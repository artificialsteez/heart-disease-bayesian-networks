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065"/>
    <p:restoredTop sz="94610"/>
  </p:normalViewPr>
  <p:slideViewPr>
    <p:cSldViewPr snapToGrid="0" snapToObjects="1">
      <p:cViewPr>
        <p:scale>
          <a:sx n="114" d="100"/>
          <a:sy n="114" d="100"/>
        </p:scale>
        <p:origin x="144" y="9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6324F"/>
                </a:solidFill>
                <a:latin typeface="Calibri"/>
              </a:defRPr>
            </a:pPr>
            <a:r>
              <a:rPr lang="en-ZA" sz="1200" b="0" i="0" u="none" strike="noStrike">
                <a:solidFill>
                  <a:srgbClr val="16324F"/>
                </a:solidFill>
                <a:latin typeface="Calibri"/>
              </a:rPr>
              <a:t>Class balance is preserved by stratified splitting</a:t>
            </a:r>
          </a:p>
        </c:rich>
      </c:tx>
      <c:overlay val="0"/>
    </c:title>
    <c:autoTitleDeleted val="0"/>
    <c:plotArea>
      <c:layout/>
      <c:barChart>
        <c:barDir val="col"/>
        <c:grouping val="stacked"/>
        <c:varyColors val="0"/>
        <c:ser>
          <c:idx val="0"/>
          <c:order val="0"/>
          <c:tx>
            <c:strRef>
              <c:f>Sheet1!$B$1</c:f>
              <c:strCache>
                <c:ptCount val="1"/>
                <c:pt idx="0">
                  <c:v>No disease</c:v>
                </c:pt>
              </c:strCache>
            </c:strRef>
          </c:tx>
          <c:spPr>
            <a:solidFill>
              <a:srgbClr val="2F6B9A"/>
            </a:solidFill>
            <a:effectLst/>
          </c:spPr>
          <c:invertIfNegative val="0"/>
          <c:dLbls>
            <c:numFmt formatCode="#,##0" sourceLinked="0"/>
            <c:spPr>
              <a:noFill/>
              <a:ln>
                <a:noFill/>
              </a:ln>
              <a:effectLst/>
            </c:spPr>
            <c:txPr>
              <a:bodyPr/>
              <a:lstStyle/>
              <a:p>
                <a:pPr>
                  <a:defRPr sz="1000" b="1" i="0" u="none" strike="noStrike">
                    <a:solidFill>
                      <a:schemeClr val="bg1"/>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All (303)</c:v>
                </c:pt>
                <c:pt idx="1">
                  <c:v>Train (242)</c:v>
                </c:pt>
                <c:pt idx="2">
                  <c:v>Test (61)</c:v>
                </c:pt>
              </c:strCache>
            </c:strRef>
          </c:cat>
          <c:val>
            <c:numRef>
              <c:f>Sheet1!$B$2:$B$4</c:f>
              <c:numCache>
                <c:formatCode>General</c:formatCode>
                <c:ptCount val="3"/>
                <c:pt idx="0">
                  <c:v>164</c:v>
                </c:pt>
                <c:pt idx="1">
                  <c:v>131</c:v>
                </c:pt>
                <c:pt idx="2">
                  <c:v>33</c:v>
                </c:pt>
              </c:numCache>
            </c:numRef>
          </c:val>
          <c:extLst>
            <c:ext xmlns:c16="http://schemas.microsoft.com/office/drawing/2014/chart" uri="{C3380CC4-5D6E-409C-BE32-E72D297353CC}">
              <c16:uniqueId val="{00000000-E35F-264A-8FA6-3067002D7B92}"/>
            </c:ext>
          </c:extLst>
        </c:ser>
        <c:ser>
          <c:idx val="1"/>
          <c:order val="1"/>
          <c:tx>
            <c:strRef>
              <c:f>Sheet1!$C$1</c:f>
              <c:strCache>
                <c:ptCount val="1"/>
                <c:pt idx="0">
                  <c:v>Disease</c:v>
                </c:pt>
              </c:strCache>
            </c:strRef>
          </c:tx>
          <c:spPr>
            <a:solidFill>
              <a:srgbClr val="D17C35"/>
            </a:solidFill>
            <a:effectLst/>
          </c:spPr>
          <c:invertIfNegative val="0"/>
          <c:dLbls>
            <c:numFmt formatCode="#,##0" sourceLinked="0"/>
            <c:spPr>
              <a:noFill/>
              <a:ln>
                <a:noFill/>
              </a:ln>
              <a:effectLst/>
            </c:spPr>
            <c:txPr>
              <a:bodyPr/>
              <a:lstStyle/>
              <a:p>
                <a:pPr>
                  <a:defRPr sz="1000" b="1" i="0" u="none" strike="noStrike">
                    <a:solidFill>
                      <a:schemeClr val="bg1"/>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All (303)</c:v>
                </c:pt>
                <c:pt idx="1">
                  <c:v>Train (242)</c:v>
                </c:pt>
                <c:pt idx="2">
                  <c:v>Test (61)</c:v>
                </c:pt>
              </c:strCache>
            </c:strRef>
          </c:cat>
          <c:val>
            <c:numRef>
              <c:f>Sheet1!$C$2:$C$4</c:f>
              <c:numCache>
                <c:formatCode>General</c:formatCode>
                <c:ptCount val="3"/>
                <c:pt idx="0">
                  <c:v>139</c:v>
                </c:pt>
                <c:pt idx="1">
                  <c:v>111</c:v>
                </c:pt>
                <c:pt idx="2">
                  <c:v>28</c:v>
                </c:pt>
              </c:numCache>
            </c:numRef>
          </c:val>
          <c:extLst>
            <c:ext xmlns:c16="http://schemas.microsoft.com/office/drawing/2014/chart" uri="{C3380CC4-5D6E-409C-BE32-E72D297353CC}">
              <c16:uniqueId val="{00000001-E35F-264A-8FA6-3067002D7B92}"/>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323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63238"/>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6324F"/>
                </a:solidFill>
                <a:latin typeface="Calibri"/>
              </a:defRPr>
            </a:pPr>
            <a:r>
              <a:rPr lang="en-ZA" sz="1200" b="0" i="0" u="none" strike="noStrike">
                <a:solidFill>
                  <a:srgbClr val="16324F"/>
                </a:solidFill>
                <a:latin typeface="Calibri"/>
              </a:rPr>
              <a:t>Mutual information with disease (nats)</a:t>
            </a:r>
          </a:p>
        </c:rich>
      </c:tx>
      <c:overlay val="0"/>
    </c:title>
    <c:autoTitleDeleted val="0"/>
    <c:plotArea>
      <c:layout/>
      <c:barChart>
        <c:barDir val="bar"/>
        <c:grouping val="clustered"/>
        <c:varyColors val="0"/>
        <c:ser>
          <c:idx val="0"/>
          <c:order val="0"/>
          <c:tx>
            <c:strRef>
              <c:f>Sheet1!$B$1</c:f>
              <c:strCache>
                <c:ptCount val="1"/>
                <c:pt idx="0">
                  <c:v>MI</c:v>
                </c:pt>
              </c:strCache>
            </c:strRef>
          </c:tx>
          <c:spPr>
            <a:solidFill>
              <a:srgbClr val="2F6B9A"/>
            </a:solidFill>
            <a:effectLst/>
          </c:spPr>
          <c:invertIfNegative val="0"/>
          <c:dLbls>
            <c:numFmt formatCode="0.000" sourceLinked="0"/>
            <c:spPr>
              <a:noFill/>
              <a:ln>
                <a:noFill/>
              </a:ln>
              <a:effectLst/>
            </c:spPr>
            <c:txPr>
              <a:bodyPr/>
              <a:lstStyle/>
              <a:p>
                <a:pPr>
                  <a:defRPr sz="10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thal</c:v>
                </c:pt>
                <c:pt idx="1">
                  <c:v>cp</c:v>
                </c:pt>
                <c:pt idx="2">
                  <c:v>ca</c:v>
                </c:pt>
                <c:pt idx="3">
                  <c:v>exang</c:v>
                </c:pt>
                <c:pt idx="4">
                  <c:v>thalach</c:v>
                </c:pt>
                <c:pt idx="5">
                  <c:v>slope</c:v>
                </c:pt>
                <c:pt idx="6">
                  <c:v>oldpeak</c:v>
                </c:pt>
                <c:pt idx="7">
                  <c:v>sex</c:v>
                </c:pt>
                <c:pt idx="8">
                  <c:v>age</c:v>
                </c:pt>
                <c:pt idx="9">
                  <c:v>restecg</c:v>
                </c:pt>
                <c:pt idx="10">
                  <c:v>chol</c:v>
                </c:pt>
                <c:pt idx="11">
                  <c:v>trestbps</c:v>
                </c:pt>
                <c:pt idx="12">
                  <c:v>fbs</c:v>
                </c:pt>
              </c:strCache>
            </c:strRef>
          </c:cat>
          <c:val>
            <c:numRef>
              <c:f>Sheet1!$B$2:$B$14</c:f>
              <c:numCache>
                <c:formatCode>General</c:formatCode>
                <c:ptCount val="13"/>
                <c:pt idx="0">
                  <c:v>0.156</c:v>
                </c:pt>
                <c:pt idx="1">
                  <c:v>0.127</c:v>
                </c:pt>
                <c:pt idx="2">
                  <c:v>0.11600000000000001</c:v>
                </c:pt>
                <c:pt idx="3">
                  <c:v>9.0999999999999998E-2</c:v>
                </c:pt>
                <c:pt idx="4">
                  <c:v>7.2999999999999995E-2</c:v>
                </c:pt>
                <c:pt idx="5">
                  <c:v>7.0999999999999994E-2</c:v>
                </c:pt>
                <c:pt idx="6">
                  <c:v>5.7000000000000002E-2</c:v>
                </c:pt>
                <c:pt idx="7">
                  <c:v>0.05</c:v>
                </c:pt>
                <c:pt idx="8">
                  <c:v>2.5000000000000001E-2</c:v>
                </c:pt>
                <c:pt idx="9">
                  <c:v>1.6E-2</c:v>
                </c:pt>
                <c:pt idx="10">
                  <c:v>1.4E-2</c:v>
                </c:pt>
                <c:pt idx="11">
                  <c:v>8.0000000000000002E-3</c:v>
                </c:pt>
                <c:pt idx="12">
                  <c:v>1E-3</c:v>
                </c:pt>
              </c:numCache>
            </c:numRef>
          </c:val>
          <c:extLst>
            <c:ext xmlns:c16="http://schemas.microsoft.com/office/drawing/2014/chart" uri="{C3380CC4-5D6E-409C-BE32-E72D297353CC}">
              <c16:uniqueId val="{00000000-897A-6E4D-A98E-2A50F76F04C2}"/>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6323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6324F"/>
                </a:solidFill>
                <a:latin typeface="Calibri"/>
              </a:defRPr>
            </a:pPr>
            <a:r>
              <a:rPr lang="en-ZA" sz="1200" b="0" i="0" u="none" strike="noStrike">
                <a:solidFill>
                  <a:srgbClr val="16324F"/>
                </a:solidFill>
                <a:latin typeface="Calibri"/>
              </a:rPr>
              <a:t>P(finding | disease group), %</a:t>
            </a:r>
          </a:p>
        </c:rich>
      </c:tx>
      <c:overlay val="0"/>
    </c:title>
    <c:autoTitleDeleted val="0"/>
    <c:plotArea>
      <c:layout/>
      <c:barChart>
        <c:barDir val="col"/>
        <c:grouping val="clustered"/>
        <c:varyColors val="0"/>
        <c:ser>
          <c:idx val="0"/>
          <c:order val="0"/>
          <c:tx>
            <c:strRef>
              <c:f>Sheet1!$B$1</c:f>
              <c:strCache>
                <c:ptCount val="1"/>
                <c:pt idx="0">
                  <c:v>Disease = 0</c:v>
                </c:pt>
              </c:strCache>
            </c:strRef>
          </c:tx>
          <c:spPr>
            <a:solidFill>
              <a:srgbClr val="2F6B9A"/>
            </a:solidFill>
            <a:effectLst/>
          </c:spPr>
          <c:invertIfNegative val="0"/>
          <c:dLbls>
            <c:numFmt formatCode="0.0" sourceLinked="0"/>
            <c:spPr>
              <a:noFill/>
              <a:ln>
                <a:noFill/>
              </a:ln>
              <a:effectLst/>
            </c:spPr>
            <c:txPr>
              <a:bodyPr/>
              <a:lstStyle/>
              <a:p>
                <a:pPr>
                  <a:defRPr sz="10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cp = 4</c:v>
                </c:pt>
                <c:pt idx="1">
                  <c:v>thal = 7</c:v>
                </c:pt>
                <c:pt idx="2">
                  <c:v>ca = 0</c:v>
                </c:pt>
                <c:pt idx="3">
                  <c:v>exang = 1 (Expert)</c:v>
                </c:pt>
                <c:pt idx="4">
                  <c:v>exang = 1 (Learned)</c:v>
                </c:pt>
              </c:strCache>
            </c:strRef>
          </c:cat>
          <c:val>
            <c:numRef>
              <c:f>Sheet1!$B$2:$B$6</c:f>
              <c:numCache>
                <c:formatCode>General</c:formatCode>
                <c:ptCount val="5"/>
                <c:pt idx="0">
                  <c:v>25.9</c:v>
                </c:pt>
                <c:pt idx="1">
                  <c:v>16.399999999999999</c:v>
                </c:pt>
                <c:pt idx="2">
                  <c:v>80.599999999999994</c:v>
                </c:pt>
                <c:pt idx="3">
                  <c:v>15.2</c:v>
                </c:pt>
                <c:pt idx="4">
                  <c:v>23.6</c:v>
                </c:pt>
              </c:numCache>
            </c:numRef>
          </c:val>
          <c:extLst>
            <c:ext xmlns:c16="http://schemas.microsoft.com/office/drawing/2014/chart" uri="{C3380CC4-5D6E-409C-BE32-E72D297353CC}">
              <c16:uniqueId val="{00000000-5B0A-0D4C-B62E-0D2989C005BC}"/>
            </c:ext>
          </c:extLst>
        </c:ser>
        <c:ser>
          <c:idx val="1"/>
          <c:order val="1"/>
          <c:tx>
            <c:strRef>
              <c:f>Sheet1!$C$1</c:f>
              <c:strCache>
                <c:ptCount val="1"/>
                <c:pt idx="0">
                  <c:v>Disease = 1</c:v>
                </c:pt>
              </c:strCache>
            </c:strRef>
          </c:tx>
          <c:spPr>
            <a:solidFill>
              <a:srgbClr val="D17C35"/>
            </a:solidFill>
            <a:effectLst/>
          </c:spPr>
          <c:invertIfNegative val="0"/>
          <c:dLbls>
            <c:numFmt formatCode="0.0" sourceLinked="0"/>
            <c:spPr>
              <a:noFill/>
              <a:ln>
                <a:noFill/>
              </a:ln>
              <a:effectLst/>
            </c:spPr>
            <c:txPr>
              <a:bodyPr/>
              <a:lstStyle/>
              <a:p>
                <a:pPr>
                  <a:defRPr sz="10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cp = 4</c:v>
                </c:pt>
                <c:pt idx="1">
                  <c:v>thal = 7</c:v>
                </c:pt>
                <c:pt idx="2">
                  <c:v>ca = 0</c:v>
                </c:pt>
                <c:pt idx="3">
                  <c:v>exang = 1 (Expert)</c:v>
                </c:pt>
                <c:pt idx="4">
                  <c:v>exang = 1 (Learned)</c:v>
                </c:pt>
              </c:strCache>
            </c:strRef>
          </c:cat>
          <c:val>
            <c:numRef>
              <c:f>Sheet1!$C$2:$C$6</c:f>
              <c:numCache>
                <c:formatCode>General</c:formatCode>
                <c:ptCount val="5"/>
                <c:pt idx="0">
                  <c:v>73.7</c:v>
                </c:pt>
                <c:pt idx="1">
                  <c:v>65.900000000000006</c:v>
                </c:pt>
                <c:pt idx="2">
                  <c:v>36.700000000000003</c:v>
                </c:pt>
                <c:pt idx="3">
                  <c:v>54</c:v>
                </c:pt>
                <c:pt idx="4">
                  <c:v>44</c:v>
                </c:pt>
              </c:numCache>
            </c:numRef>
          </c:val>
          <c:extLst>
            <c:ext xmlns:c16="http://schemas.microsoft.com/office/drawing/2014/chart" uri="{C3380CC4-5D6E-409C-BE32-E72D297353CC}">
              <c16:uniqueId val="{00000001-5B0A-0D4C-B62E-0D2989C005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3238"/>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DD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63238"/>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6324F"/>
                </a:solidFill>
                <a:latin typeface="Calibri"/>
              </a:defRPr>
            </a:pPr>
            <a:r>
              <a:rPr lang="en-ZA" sz="1200" b="0" i="0" u="none" strike="noStrike">
                <a:solidFill>
                  <a:srgbClr val="16324F"/>
                </a:solidFill>
                <a:latin typeface="Calibri"/>
              </a:rPr>
              <a:t>P(disease), %: largest single change</a:t>
            </a:r>
          </a:p>
        </c:rich>
      </c:tx>
      <c:overlay val="0"/>
    </c:title>
    <c:autoTitleDeleted val="0"/>
    <c:plotArea>
      <c:layout/>
      <c:barChart>
        <c:barDir val="col"/>
        <c:grouping val="clustered"/>
        <c:varyColors val="0"/>
        <c:ser>
          <c:idx val="0"/>
          <c:order val="0"/>
          <c:tx>
            <c:strRef>
              <c:f>Sheet1!$B$1</c:f>
              <c:strCache>
                <c:ptCount val="1"/>
                <c:pt idx="0">
                  <c:v>Expert</c:v>
                </c:pt>
              </c:strCache>
            </c:strRef>
          </c:tx>
          <c:spPr>
            <a:solidFill>
              <a:srgbClr val="2F6B9A"/>
            </a:solidFill>
            <a:effectLst/>
          </c:spPr>
          <c:invertIfNegative val="0"/>
          <c:dLbls>
            <c:numFmt formatCode="0.0" sourceLinked="0"/>
            <c:spPr>
              <a:noFill/>
              <a:ln>
                <a:noFill/>
              </a:ln>
              <a:effectLst/>
            </c:spPr>
            <c:txPr>
              <a:bodyPr/>
              <a:lstStyle/>
              <a:p>
                <a:pPr>
                  <a:defRPr sz="10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 (ca 0)</c:v>
                </c:pt>
                <c:pt idx="1">
                  <c:v>Change ca to 3</c:v>
                </c:pt>
              </c:strCache>
            </c:strRef>
          </c:cat>
          <c:val>
            <c:numRef>
              <c:f>Sheet1!$B$2:$B$3</c:f>
              <c:numCache>
                <c:formatCode>General</c:formatCode>
                <c:ptCount val="2"/>
                <c:pt idx="0">
                  <c:v>1.1000000000000001</c:v>
                </c:pt>
                <c:pt idx="1">
                  <c:v>16.8</c:v>
                </c:pt>
              </c:numCache>
            </c:numRef>
          </c:val>
          <c:extLst>
            <c:ext xmlns:c16="http://schemas.microsoft.com/office/drawing/2014/chart" uri="{C3380CC4-5D6E-409C-BE32-E72D297353CC}">
              <c16:uniqueId val="{00000000-6828-AE45-87B9-E97FBB63D7AC}"/>
            </c:ext>
          </c:extLst>
        </c:ser>
        <c:ser>
          <c:idx val="1"/>
          <c:order val="1"/>
          <c:tx>
            <c:strRef>
              <c:f>Sheet1!$C$1</c:f>
              <c:strCache>
                <c:ptCount val="1"/>
                <c:pt idx="0">
                  <c:v>Learned</c:v>
                </c:pt>
              </c:strCache>
            </c:strRef>
          </c:tx>
          <c:spPr>
            <a:solidFill>
              <a:srgbClr val="D17C35"/>
            </a:solidFill>
            <a:effectLst/>
          </c:spPr>
          <c:invertIfNegative val="0"/>
          <c:dLbls>
            <c:numFmt formatCode="0.0" sourceLinked="0"/>
            <c:spPr>
              <a:noFill/>
              <a:ln>
                <a:noFill/>
              </a:ln>
              <a:effectLst/>
            </c:spPr>
            <c:txPr>
              <a:bodyPr/>
              <a:lstStyle/>
              <a:p>
                <a:pPr>
                  <a:defRPr sz="10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 (ca 0)</c:v>
                </c:pt>
                <c:pt idx="1">
                  <c:v>Change ca to 3</c:v>
                </c:pt>
              </c:strCache>
            </c:strRef>
          </c:cat>
          <c:val>
            <c:numRef>
              <c:f>Sheet1!$C$2:$C$3</c:f>
              <c:numCache>
                <c:formatCode>General</c:formatCode>
                <c:ptCount val="2"/>
                <c:pt idx="0">
                  <c:v>3.2</c:v>
                </c:pt>
                <c:pt idx="1">
                  <c:v>37.9</c:v>
                </c:pt>
              </c:numCache>
            </c:numRef>
          </c:val>
          <c:extLst>
            <c:ext xmlns:c16="http://schemas.microsoft.com/office/drawing/2014/chart" uri="{C3380CC4-5D6E-409C-BE32-E72D297353CC}">
              <c16:uniqueId val="{00000001-6828-AE45-87B9-E97FBB63D7A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6323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63238"/>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7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question: can routine clinical measurements separate patients with and without heart disease? We compare an expert-designed Bayesian network with one learned from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prediction problem, why a Bayesian network fits (interpretable, probabilistic, evidence can flow in any direction) and walk through the six workflow stages that structure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verified: 303 rows, 14 columns, no duplicates. Only 6 missing cells (4 in ca, 2 in thal), imputed from training data only. Split is stratified 80/20 so class balance is preserved; disease prevalence is 45.9% in all sets so no oversampling was needed. Discretisation uses training tertiles, frozen and reused on the test set, so the pipeline is reproducible.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on training data only. Disease rates rise sharply for cp=4 (asymptomatic), thal=7, more vessels coloured (ca) and exercise angina. Mutual information ranks thal, cp and ca as the most informative predictors; fasting blood sugar, blood pressure and cholesterol carry almost no univariate signal, which is why feature selection was not needed but sparse CPTs are a risk.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reasoning pathways into and out of the target. The 21 arrows are modelling assumptions grounded in clinical logic, not proven causal claims. Green arrows are shared with the learned DAG, orange are reversed in the learned DAG.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21 edges are justified, grouped by shared reasoning. Cite Tanaka et al. (2001) for the age and max heart rate link and Detrano et al. (1989) for combining clinical and test information. The arrows are assumptions; observational data cannot prove causality.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hill climbing with the BIC score, starting from an empty graph with no forced directions. BIC penalises complexity, which matters with only 242 training rows. The result is sparse: 11 arrows, chol and restecg isolated, and the target has no parents so it is a root node. Its Markov blanket is only cp, thal and ca.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five arrows are shared, all involving the disease node or its neighbours. The learned graph drops most risk-factor arrows into disease because BIC finds them too weak given 242 rows. Two learned arrows point into age and sex, which cannot be caused by test results; they are statistical factorisations, so we do not read the learned graph causally.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are estimated on training data only using a BDeu prior with equivalent sample size 5. Every node in each network has a valid CPT: 14 per model, 28 in total, all checked to sum to one and exported to CSV. The expert target CPT has 108 parent configurations and 39 of them are never observed, so those 50% entries come from the prior, not from patients. Fitted networks are saved as .pkl files.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expert target CPT rows. Each row is P(disease=1 | age, sex, BP, chol, fbs). These are the highest and lowest supported rows compared with 45.9% prevalence. Support is only 5 to 9 patients per row, so treat them as descriptive. In the learned network the target has no parents, so its CPT is a single prior of 46.0%.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CPTs are P(finding | disease), shared by both networks for cp, thal and ca because they have the same target-only parent. Exercise angina differs: the expert model conditions it on disease and chest pain, the learned model reaches it through chest pain only. Remind the audience that P(finding | disease) is not P(disease | finding).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variable elimination over all 5,184 combinations of sex, cp, exang, thal, oldpeak, thalach, slope and ca in both networks; 176 combinations occur in training. Expert extremes are more extreme (99.96% and 0.05%) because its target CPT has many parents. The learned model saturates at 98.8% for any profile with cp=4, thal=7, ca=3.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table shows the top observed combinations in the expert model, all male, cp 4, exang 1, thal 7 with low heart rate and high ST depression. For the learned model, every profile with cp=4, thal=7, ca=3 ties at 98.79%. The scatter compares both posteriors for the same evidence across all 5,184 profiles; the models agree in direction but the learned model is flatter.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is the most common profile in training (male, cp 2, exang 0, thal 3, no ST depression, high heart rate, slope 1, ca 0; n = 7). Changing ca from 0 to 3 gives the largest jump in both models, from 1.1 to 16.8 in the expert model and 3.2 to 37.9 in the learned model. Reverse inference conditions on disease = 1 and reads off the likely findings.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is clinically sensible in both networks. Two cautions: cp=4 means asymptomatic and strongly predicts disease only in this selected clinical sample, and extreme expert probabilities rest on sparse data. Smoothing sensitivity shows the expert model varies up to 9.45 pp across ESS 1, 5, 10 while the learned model varies 0.8 pp.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of 61 patients (28 disease), threshold 0.50 fixed in advance. The learned model wins on accuracy, precision, specificity and F1; the expert model wins on recall (misses 3 rather than 4 cases), ROC-AUC, AP and Brier score. Both far outperform the majority-class baseline (54.1% accuracy, AUC 0.50).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 and precision-recall curves overlap heavily. The paired bootstrap of the test patients gives a learned minus expert AUC difference of minus 0.021 with a 95% interval from minus 0.098 to plus 0.039, which includes zero, so neither model is shown to be superior on ranking. With only 61 test patients the estimates are imprecise and this is not external validation.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rubric question directly: expert DAG is preferred by the pre-specified ranking metric (ROC-AUC) but not conclusively; the learned DAG is far simpler with 57 vs 194 parameters and better balanced at the threshold, but contains implausible arrows. The best predictor is therefore not automatically the most interpretable. Recommendations are validation steps; we make no deployment claim.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and inviting questions. Both members should present: one on data, structure and CPTs, the other on inference, evaluation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 name="Text 0"/>
          <p:cNvSpPr txBox="1"/>
          <p:nvPr/>
        </p:nvSpPr>
        <p:spPr>
          <a:xfrm>
            <a:off x="548640" y="640080"/>
            <a:ext cx="5486400" cy="274320"/>
          </a:xfrm>
          <a:prstGeom prst="rect">
            <a:avLst/>
          </a:prstGeom>
          <a:noFill/>
          <a:ln/>
        </p:spPr>
        <p:txBody>
          <a:bodyPr wrap="square" lIns="0" tIns="0" rIns="0" bIns="0" rtlCol="0" anchor="t"/>
          <a:lstStyle/>
          <a:p>
            <a:pPr marL="0" indent="0">
              <a:buNone/>
            </a:pPr>
            <a:r>
              <a:rPr lang="en-US" sz="1300" b="1" kern="0" spc="300" dirty="0">
                <a:solidFill>
                  <a:schemeClr val="tx2"/>
                </a:solidFill>
                <a:latin typeface="Calibri" pitchFamily="34" charset="0"/>
                <a:ea typeface="Calibri" pitchFamily="34" charset="-122"/>
                <a:cs typeface="Calibri" pitchFamily="34" charset="-120"/>
              </a:rPr>
              <a:t>EDAB 6824  |  ASSIGNMENT 3</a:t>
            </a:r>
            <a:endParaRPr lang="en-US" sz="1300" dirty="0">
              <a:solidFill>
                <a:schemeClr val="tx2"/>
              </a:solidFill>
            </a:endParaRPr>
          </a:p>
        </p:txBody>
      </p:sp>
      <p:sp>
        <p:nvSpPr>
          <p:cNvPr id="4" name="Text 1"/>
          <p:cNvSpPr txBox="1"/>
          <p:nvPr/>
        </p:nvSpPr>
        <p:spPr>
          <a:xfrm>
            <a:off x="548640" y="1051560"/>
            <a:ext cx="6217920" cy="1554480"/>
          </a:xfrm>
          <a:prstGeom prst="rect">
            <a:avLst/>
          </a:prstGeom>
          <a:noFill/>
          <a:ln/>
        </p:spPr>
        <p:txBody>
          <a:bodyPr wrap="square" lIns="0" tIns="0" rIns="0" bIns="0" rtlCol="0" anchor="t"/>
          <a:lstStyle/>
          <a:p>
            <a:pPr marL="0" indent="0">
              <a:buNone/>
            </a:pPr>
            <a:r>
              <a:rPr lang="en-US" sz="3800" b="1" dirty="0">
                <a:solidFill>
                  <a:schemeClr val="accent1">
                    <a:lumMod val="50000"/>
                  </a:schemeClr>
                </a:solidFill>
                <a:latin typeface="Cambria" pitchFamily="34" charset="0"/>
                <a:ea typeface="Cambria" pitchFamily="34" charset="-122"/>
                <a:cs typeface="Cambria" pitchFamily="34" charset="-120"/>
              </a:rPr>
              <a:t>Bayesian Networks for Heart Disease Prediction</a:t>
            </a:r>
            <a:endParaRPr lang="en-US" sz="3800" b="1" dirty="0">
              <a:solidFill>
                <a:schemeClr val="accent1">
                  <a:lumMod val="50000"/>
                </a:schemeClr>
              </a:solidFill>
            </a:endParaRPr>
          </a:p>
        </p:txBody>
      </p:sp>
      <p:sp>
        <p:nvSpPr>
          <p:cNvPr id="5" name="Text 2"/>
          <p:cNvSpPr txBox="1"/>
          <p:nvPr/>
        </p:nvSpPr>
        <p:spPr>
          <a:xfrm>
            <a:off x="548640" y="2743200"/>
            <a:ext cx="6035040" cy="548640"/>
          </a:xfrm>
          <a:prstGeom prst="rect">
            <a:avLst/>
          </a:prstGeom>
          <a:noFill/>
          <a:ln/>
        </p:spPr>
        <p:txBody>
          <a:bodyPr wrap="square" lIns="0" tIns="0" rIns="0" bIns="0" rtlCol="0" anchor="t"/>
          <a:lstStyle/>
          <a:p>
            <a:pPr marL="0" indent="0">
              <a:buNone/>
            </a:pPr>
            <a:r>
              <a:rPr lang="en-US" sz="1700" dirty="0">
                <a:solidFill>
                  <a:schemeClr val="accent2">
                    <a:lumMod val="75000"/>
                  </a:schemeClr>
                </a:solidFill>
                <a:latin typeface="Calibri" pitchFamily="34" charset="0"/>
                <a:ea typeface="Calibri" pitchFamily="34" charset="-122"/>
                <a:cs typeface="Calibri" pitchFamily="34" charset="-120"/>
              </a:rPr>
              <a:t>Expert-designed DAG vs a data-driven DAG learned with bnlearn</a:t>
            </a:r>
            <a:endParaRPr lang="en-US" sz="1700" dirty="0">
              <a:solidFill>
                <a:schemeClr val="accent2">
                  <a:lumMod val="75000"/>
                </a:schemeClr>
              </a:solidFill>
            </a:endParaRPr>
          </a:p>
        </p:txBody>
      </p:sp>
      <p:sp>
        <p:nvSpPr>
          <p:cNvPr id="6" name="Text 3"/>
          <p:cNvSpPr txBox="1"/>
          <p:nvPr/>
        </p:nvSpPr>
        <p:spPr>
          <a:xfrm>
            <a:off x="548640" y="3520440"/>
            <a:ext cx="5486400" cy="548640"/>
          </a:xfrm>
          <a:prstGeom prst="rect">
            <a:avLst/>
          </a:prstGeom>
          <a:noFill/>
          <a:ln/>
        </p:spPr>
        <p:txBody>
          <a:bodyPr wrap="square" lIns="0" tIns="0" rIns="0" bIns="0" rtlCol="0" anchor="t"/>
          <a:lstStyle/>
          <a:p>
            <a:pPr marL="0" indent="0">
              <a:buNone/>
            </a:pPr>
            <a:r>
              <a:rPr lang="en-US" sz="1500" b="1" dirty="0">
                <a:latin typeface="Calibri" pitchFamily="34" charset="0"/>
                <a:ea typeface="Calibri" pitchFamily="34" charset="-122"/>
                <a:cs typeface="Calibri" pitchFamily="34" charset="-120"/>
              </a:rPr>
              <a:t>Lwazi Nhlapo (2021856345)</a:t>
            </a:r>
            <a:endParaRPr lang="en-US" sz="1500" dirty="0"/>
          </a:p>
          <a:p>
            <a:pPr marL="0" indent="0">
              <a:buNone/>
            </a:pPr>
            <a:r>
              <a:rPr lang="en-US" sz="1500" dirty="0">
                <a:latin typeface="Calibri" pitchFamily="34" charset="0"/>
                <a:ea typeface="Calibri" pitchFamily="34" charset="-122"/>
                <a:cs typeface="Calibri" pitchFamily="34" charset="-120"/>
              </a:rPr>
              <a:t>Boipelo Letwaba</a:t>
            </a:r>
            <a:endParaRPr lang="en-US" sz="1500" dirty="0"/>
          </a:p>
        </p:txBody>
      </p:sp>
      <p:sp>
        <p:nvSpPr>
          <p:cNvPr id="7" name="Text 4"/>
          <p:cNvSpPr txBox="1"/>
          <p:nvPr/>
        </p:nvSpPr>
        <p:spPr>
          <a:xfrm>
            <a:off x="548640" y="4343400"/>
            <a:ext cx="640080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B.Com Hons Business and Financial Analytics  |  University of the Free State</a:t>
            </a:r>
            <a:endParaRPr lang="en-US" sz="1100" dirty="0">
              <a:solidFill>
                <a:schemeClr val="tx2"/>
              </a:solidFill>
            </a:endParaRPr>
          </a:p>
        </p:txBody>
      </p:sp>
      <p:sp>
        <p:nvSpPr>
          <p:cNvPr id="10" name="Text 6"/>
          <p:cNvSpPr txBox="1"/>
          <p:nvPr/>
        </p:nvSpPr>
        <p:spPr>
          <a:xfrm>
            <a:off x="6583680" y="4160520"/>
            <a:ext cx="2377440" cy="457200"/>
          </a:xfrm>
          <a:prstGeom prst="rect">
            <a:avLst/>
          </a:prstGeom>
          <a:noFill/>
          <a:ln/>
        </p:spPr>
        <p:txBody>
          <a:bodyPr wrap="square" lIns="0" tIns="0" rIns="0" bIns="0" rtlCol="0" anchor="t"/>
          <a:lstStyle/>
          <a:p>
            <a:pPr marL="0" indent="0" algn="ctr">
              <a:buNone/>
            </a:pPr>
            <a:r>
              <a:rPr lang="en-US" sz="1200" b="1" dirty="0">
                <a:latin typeface="Calibri" pitchFamily="34" charset="0"/>
                <a:ea typeface="Calibri" pitchFamily="34" charset="-122"/>
                <a:cs typeface="Calibri" pitchFamily="34" charset="-120"/>
              </a:rPr>
              <a:t>303 patients  |  13 predictors  |  2 networks</a:t>
            </a:r>
            <a:endParaRPr lang="en-US" sz="1200" dirty="0"/>
          </a:p>
        </p:txBody>
      </p:sp>
      <p:pic>
        <p:nvPicPr>
          <p:cNvPr id="11" name="Picture 10">
            <a:extLst>
              <a:ext uri="{FF2B5EF4-FFF2-40B4-BE49-F238E27FC236}">
                <a16:creationId xmlns:a16="http://schemas.microsoft.com/office/drawing/2014/main" id="{8D6BC0CC-FE67-99AC-D4F8-4C87ABBE1F14}"/>
              </a:ext>
            </a:extLst>
          </p:cNvPr>
          <p:cNvPicPr>
            <a:picLocks noChangeAspect="1"/>
          </p:cNvPicPr>
          <p:nvPr/>
        </p:nvPicPr>
        <p:blipFill>
          <a:blip r:embed="rId3">
            <a:alphaModFix/>
          </a:blip>
          <a:stretch/>
        </p:blipFill>
        <p:spPr>
          <a:xfrm>
            <a:off x="6223819" y="903848"/>
            <a:ext cx="2675757" cy="25708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The Problem and the Bayesian Network Workflow</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457200" y="1005840"/>
            <a:ext cx="5303520" cy="1892808"/>
          </a:xfrm>
          <a:prstGeom prst="roundRect">
            <a:avLst>
              <a:gd name="adj" fmla="val 4103"/>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7" name="Text 4"/>
          <p:cNvSpPr txBox="1"/>
          <p:nvPr/>
        </p:nvSpPr>
        <p:spPr>
          <a:xfrm>
            <a:off x="640080" y="1049956"/>
            <a:ext cx="4572000" cy="274320"/>
          </a:xfrm>
          <a:prstGeom prst="rect">
            <a:avLst/>
          </a:prstGeom>
          <a:noFill/>
          <a:ln/>
        </p:spPr>
        <p:txBody>
          <a:bodyPr wrap="square" lIns="0" tIns="0" rIns="0" bIns="0" rtlCol="0" anchor="t"/>
          <a:lstStyle/>
          <a:p>
            <a:r>
              <a:rPr lang="en-US" sz="1500" b="1" dirty="0">
                <a:solidFill>
                  <a:srgbClr val="D17C35"/>
                </a:solidFill>
                <a:latin typeface="Calibri" pitchFamily="34" charset="0"/>
                <a:ea typeface="Calibri" pitchFamily="34" charset="-122"/>
                <a:cs typeface="Calibri" pitchFamily="34" charset="-120"/>
              </a:rPr>
              <a:t>The question</a:t>
            </a:r>
            <a:r>
              <a:rPr lang="en-US" sz="1200" b="1" dirty="0">
                <a:solidFill>
                  <a:srgbClr val="D17C35"/>
                </a:solidFill>
                <a:latin typeface="Calibri" pitchFamily="34" charset="0"/>
                <a:ea typeface="Calibri" pitchFamily="34" charset="-122"/>
                <a:cs typeface="Calibri" pitchFamily="34" charset="-120"/>
              </a:rPr>
              <a:t>: </a:t>
            </a:r>
            <a:r>
              <a:rPr lang="en-ZA" sz="1200" b="1" dirty="0">
                <a:solidFill>
                  <a:srgbClr val="2F6B9A"/>
                </a:solidFill>
                <a:latin typeface="Helvetica Neue"/>
                <a:ea typeface="Helvetica Neue"/>
                <a:cs typeface="Helvetica Neue"/>
              </a:rPr>
              <a:t>P(disease present | observed clinical evidence)</a:t>
            </a:r>
          </a:p>
          <a:p>
            <a:pPr lvl="0"/>
            <a:endParaRPr lang="en-US" sz="1500" dirty="0"/>
          </a:p>
        </p:txBody>
      </p:sp>
      <p:sp>
        <p:nvSpPr>
          <p:cNvPr id="8" name="Text 5"/>
          <p:cNvSpPr txBox="1"/>
          <p:nvPr/>
        </p:nvSpPr>
        <p:spPr>
          <a:xfrm>
            <a:off x="640080" y="1371600"/>
            <a:ext cx="4937760" cy="429768"/>
          </a:xfrm>
          <a:prstGeom prst="rect">
            <a:avLst/>
          </a:prstGeom>
          <a:noFill/>
          <a:ln/>
        </p:spPr>
        <p:txBody>
          <a:bodyPr wrap="square" lIns="0" tIns="0" rIns="0" bIns="0" rtlCol="0" anchor="t"/>
          <a:lstStyle/>
          <a:p>
            <a:pPr marL="0" indent="0">
              <a:buNone/>
            </a:pPr>
            <a:r>
              <a:rPr lang="en-US" sz="1200" b="1" dirty="0">
                <a:solidFill>
                  <a:srgbClr val="16324F"/>
                </a:solidFill>
                <a:latin typeface="Calibri" pitchFamily="34" charset="0"/>
                <a:ea typeface="Calibri" pitchFamily="34" charset="-122"/>
                <a:cs typeface="Calibri" pitchFamily="34" charset="-120"/>
              </a:rPr>
              <a:t>Can recorded clinical measurements distinguish patients with heart disease from those without?</a:t>
            </a:r>
            <a:endParaRPr lang="en-US" sz="1200" dirty="0"/>
          </a:p>
        </p:txBody>
      </p:sp>
      <p:sp>
        <p:nvSpPr>
          <p:cNvPr id="9" name="Text 6"/>
          <p:cNvSpPr txBox="1"/>
          <p:nvPr/>
        </p:nvSpPr>
        <p:spPr>
          <a:xfrm>
            <a:off x="640080" y="1856232"/>
            <a:ext cx="4937760" cy="93268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Cleveland data: 303 patients, 13 predictors (age, chest pain, thal, ca, exercise-test results...)</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Target: </a:t>
            </a:r>
            <a:r>
              <a:rPr lang="en-US" sz="1100" dirty="0" err="1">
                <a:solidFill>
                  <a:srgbClr val="263238"/>
                </a:solidFill>
                <a:latin typeface="Calibri" pitchFamily="34" charset="0"/>
                <a:ea typeface="Calibri" pitchFamily="34" charset="-122"/>
                <a:cs typeface="Calibri" pitchFamily="34" charset="-120"/>
              </a:rPr>
              <a:t>heartdisease</a:t>
            </a:r>
            <a:r>
              <a:rPr lang="en-US" sz="1100" dirty="0">
                <a:solidFill>
                  <a:srgbClr val="263238"/>
                </a:solidFill>
                <a:latin typeface="Calibri" pitchFamily="34" charset="0"/>
                <a:ea typeface="Calibri" pitchFamily="34" charset="-122"/>
                <a:cs typeface="Calibri" pitchFamily="34" charset="-120"/>
              </a:rPr>
              <a:t> &gt; 0 recoded to a binary label (139 disease, 164 none)</a:t>
            </a:r>
            <a:endParaRPr lang="en-US" sz="1100" dirty="0"/>
          </a:p>
          <a:p>
            <a:pPr marL="171450" indent="-171450">
              <a:buFont typeface="Arial" panose="020B0604020202020204" pitchFamily="34" charset="0"/>
              <a:buChar char="•"/>
              <a:defRPr sz="1725" b="1">
                <a:solidFill>
                  <a:srgbClr val="2F6B9A"/>
                </a:solidFill>
                <a:latin typeface="Helvetica Neue"/>
                <a:ea typeface="Helvetica Neue"/>
                <a:cs typeface="Helvetica Neue"/>
              </a:defRPr>
            </a:pPr>
            <a:r>
              <a:rPr lang="en-ZA" sz="1100" dirty="0">
                <a:solidFill>
                  <a:srgbClr val="2F6B9A"/>
                </a:solidFill>
                <a:ea typeface="Helvetica Neue"/>
                <a:cs typeface="Helvetica Neue"/>
              </a:rPr>
              <a:t>Goal: compare predictive performance and the explanation each network provides.</a:t>
            </a:r>
          </a:p>
        </p:txBody>
      </p:sp>
      <p:sp>
        <p:nvSpPr>
          <p:cNvPr id="10" name="Shape 7"/>
          <p:cNvSpPr/>
          <p:nvPr/>
        </p:nvSpPr>
        <p:spPr>
          <a:xfrm>
            <a:off x="5989320" y="1005840"/>
            <a:ext cx="1325880" cy="1783080"/>
          </a:xfrm>
          <a:prstGeom prst="roundRect">
            <a:avLst>
              <a:gd name="adj" fmla="val 5517"/>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1" name="Text 8"/>
          <p:cNvSpPr txBox="1"/>
          <p:nvPr/>
        </p:nvSpPr>
        <p:spPr>
          <a:xfrm>
            <a:off x="6080760" y="1097280"/>
            <a:ext cx="1143000" cy="891540"/>
          </a:xfrm>
          <a:prstGeom prst="rect">
            <a:avLst/>
          </a:prstGeom>
          <a:noFill/>
          <a:ln/>
        </p:spPr>
        <p:txBody>
          <a:bodyPr wrap="square" lIns="0" tIns="0" rIns="0" bIns="0" rtlCol="0" anchor="ctr"/>
          <a:lstStyle/>
          <a:p>
            <a:pPr marL="0" indent="0" algn="ctr">
              <a:buNone/>
            </a:pPr>
            <a:r>
              <a:rPr lang="en-US" sz="3000" b="1" dirty="0">
                <a:solidFill>
                  <a:srgbClr val="2F6B9A"/>
                </a:solidFill>
                <a:latin typeface="Cambria" pitchFamily="34" charset="0"/>
                <a:ea typeface="Cambria" pitchFamily="34" charset="-122"/>
                <a:cs typeface="Cambria" pitchFamily="34" charset="-120"/>
              </a:rPr>
              <a:t>303</a:t>
            </a:r>
            <a:endParaRPr lang="en-US" sz="3000" dirty="0"/>
          </a:p>
        </p:txBody>
      </p:sp>
      <p:sp>
        <p:nvSpPr>
          <p:cNvPr id="12" name="Text 9"/>
          <p:cNvSpPr txBox="1"/>
          <p:nvPr/>
        </p:nvSpPr>
        <p:spPr>
          <a:xfrm>
            <a:off x="6099048" y="2040026"/>
            <a:ext cx="1106424" cy="677570"/>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patient records</a:t>
            </a:r>
            <a:endParaRPr lang="en-US" sz="1100" dirty="0"/>
          </a:p>
        </p:txBody>
      </p:sp>
      <p:sp>
        <p:nvSpPr>
          <p:cNvPr id="13" name="Shape 10"/>
          <p:cNvSpPr/>
          <p:nvPr/>
        </p:nvSpPr>
        <p:spPr>
          <a:xfrm>
            <a:off x="7406640" y="1005840"/>
            <a:ext cx="1280160" cy="178308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4" name="Text 11"/>
          <p:cNvSpPr txBox="1"/>
          <p:nvPr/>
        </p:nvSpPr>
        <p:spPr>
          <a:xfrm>
            <a:off x="7498080" y="1097280"/>
            <a:ext cx="1097280" cy="891540"/>
          </a:xfrm>
          <a:prstGeom prst="rect">
            <a:avLst/>
          </a:prstGeom>
          <a:noFill/>
          <a:ln/>
        </p:spPr>
        <p:txBody>
          <a:bodyPr wrap="square" lIns="0" tIns="0" rIns="0" bIns="0" rtlCol="0" anchor="ctr"/>
          <a:lstStyle/>
          <a:p>
            <a:pPr marL="0" indent="0" algn="ctr">
              <a:buNone/>
            </a:pPr>
            <a:r>
              <a:rPr lang="en-US" sz="3000" b="1" dirty="0">
                <a:solidFill>
                  <a:srgbClr val="D17C35"/>
                </a:solidFill>
                <a:latin typeface="Cambria" pitchFamily="34" charset="0"/>
                <a:ea typeface="Cambria" pitchFamily="34" charset="-122"/>
                <a:cs typeface="Cambria" pitchFamily="34" charset="-120"/>
              </a:rPr>
              <a:t>13</a:t>
            </a:r>
            <a:endParaRPr lang="en-US" sz="3000" dirty="0"/>
          </a:p>
        </p:txBody>
      </p:sp>
      <p:sp>
        <p:nvSpPr>
          <p:cNvPr id="15" name="Text 12"/>
          <p:cNvSpPr txBox="1"/>
          <p:nvPr/>
        </p:nvSpPr>
        <p:spPr>
          <a:xfrm>
            <a:off x="7516368" y="2040026"/>
            <a:ext cx="1060704" cy="677570"/>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clinical predictors</a:t>
            </a:r>
            <a:endParaRPr lang="en-US" sz="1100" dirty="0"/>
          </a:p>
        </p:txBody>
      </p:sp>
      <p:sp>
        <p:nvSpPr>
          <p:cNvPr id="16" name="Shape 13"/>
          <p:cNvSpPr/>
          <p:nvPr/>
        </p:nvSpPr>
        <p:spPr>
          <a:xfrm>
            <a:off x="457200" y="3017520"/>
            <a:ext cx="1280160" cy="160020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7" name="Shape 14"/>
          <p:cNvSpPr/>
          <p:nvPr/>
        </p:nvSpPr>
        <p:spPr>
          <a:xfrm>
            <a:off x="868680" y="3127248"/>
            <a:ext cx="457200" cy="457200"/>
          </a:xfrm>
          <a:prstGeom prst="ellipse">
            <a:avLst/>
          </a:prstGeom>
          <a:solidFill>
            <a:srgbClr val="2F6B9A"/>
          </a:solidFill>
          <a:ln w="12700">
            <a:solidFill>
              <a:srgbClr val="2F6B9A"/>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987552" y="3246120"/>
            <a:ext cx="219456" cy="219456"/>
          </a:xfrm>
          <a:prstGeom prst="rect">
            <a:avLst/>
          </a:prstGeom>
        </p:spPr>
      </p:pic>
      <p:sp>
        <p:nvSpPr>
          <p:cNvPr id="19" name="Text 15"/>
          <p:cNvSpPr txBox="1"/>
          <p:nvPr/>
        </p:nvSpPr>
        <p:spPr>
          <a:xfrm>
            <a:off x="502920" y="3657600"/>
            <a:ext cx="1188720" cy="274320"/>
          </a:xfrm>
          <a:prstGeom prst="rect">
            <a:avLst/>
          </a:prstGeom>
          <a:noFill/>
          <a:ln/>
        </p:spPr>
        <p:txBody>
          <a:bodyPr wrap="square" lIns="0" tIns="0" rIns="0" bIns="0" rtlCol="0" anchor="t"/>
          <a:lstStyle/>
          <a:p>
            <a:pPr marL="0" indent="0" algn="ctr">
              <a:buNone/>
            </a:pPr>
            <a:r>
              <a:rPr lang="en-US" sz="1200" b="1" dirty="0">
                <a:solidFill>
                  <a:srgbClr val="16324F"/>
                </a:solidFill>
                <a:latin typeface="Calibri" pitchFamily="34" charset="0"/>
                <a:ea typeface="Calibri" pitchFamily="34" charset="-122"/>
                <a:cs typeface="Calibri" pitchFamily="34" charset="-120"/>
              </a:rPr>
              <a:t>1. Prepare</a:t>
            </a:r>
            <a:endParaRPr lang="en-US" sz="1200" dirty="0"/>
          </a:p>
        </p:txBody>
      </p:sp>
      <p:sp>
        <p:nvSpPr>
          <p:cNvPr id="20" name="Text 16"/>
          <p:cNvSpPr txBox="1"/>
          <p:nvPr/>
        </p:nvSpPr>
        <p:spPr>
          <a:xfrm>
            <a:off x="548640" y="3950208"/>
            <a:ext cx="1097280" cy="548640"/>
          </a:xfrm>
          <a:prstGeom prst="rect">
            <a:avLst/>
          </a:prstGeom>
          <a:noFill/>
          <a:ln/>
        </p:spPr>
        <p:txBody>
          <a:bodyPr wrap="square" lIns="0" tIns="0" rIns="0" bIns="0" rtlCol="0" anchor="t"/>
          <a:lstStyle/>
          <a:p>
            <a:pPr marL="0" indent="0" algn="ctr">
              <a:buNone/>
            </a:pPr>
            <a:r>
              <a:rPr lang="en-US" sz="1000" dirty="0">
                <a:solidFill>
                  <a:srgbClr val="5B6B78"/>
                </a:solidFill>
                <a:latin typeface="Calibri" pitchFamily="34" charset="0"/>
                <a:ea typeface="Calibri" pitchFamily="34" charset="-122"/>
                <a:cs typeface="Calibri" pitchFamily="34" charset="-120"/>
              </a:rPr>
              <a:t>Clean, split, discretise</a:t>
            </a:r>
            <a:endParaRPr lang="en-US" sz="1000" dirty="0"/>
          </a:p>
        </p:txBody>
      </p:sp>
      <p:sp>
        <p:nvSpPr>
          <p:cNvPr id="21" name="Shape 17"/>
          <p:cNvSpPr/>
          <p:nvPr/>
        </p:nvSpPr>
        <p:spPr>
          <a:xfrm>
            <a:off x="1828800" y="3017520"/>
            <a:ext cx="1280160" cy="160020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22" name="Shape 18"/>
          <p:cNvSpPr/>
          <p:nvPr/>
        </p:nvSpPr>
        <p:spPr>
          <a:xfrm>
            <a:off x="2240280" y="3127248"/>
            <a:ext cx="457200" cy="457200"/>
          </a:xfrm>
          <a:prstGeom prst="ellipse">
            <a:avLst/>
          </a:prstGeom>
          <a:solidFill>
            <a:srgbClr val="D17C35"/>
          </a:solidFill>
          <a:ln w="12700">
            <a:solidFill>
              <a:srgbClr val="D17C35"/>
            </a:solidFill>
            <a:prstDash val="solid"/>
          </a:ln>
        </p:spPr>
        <p:txBody>
          <a:bodyPr/>
          <a:lstStyle/>
          <a:p>
            <a:endParaRPr lang="en-US"/>
          </a:p>
        </p:txBody>
      </p:sp>
      <p:pic>
        <p:nvPicPr>
          <p:cNvPr id="23" name="Image 1" descr="preencoded.png"/>
          <p:cNvPicPr>
            <a:picLocks noChangeAspect="1"/>
          </p:cNvPicPr>
          <p:nvPr/>
        </p:nvPicPr>
        <p:blipFill>
          <a:blip r:embed="rId4"/>
          <a:stretch>
            <a:fillRect/>
          </a:stretch>
        </p:blipFill>
        <p:spPr>
          <a:xfrm>
            <a:off x="2359152" y="3246120"/>
            <a:ext cx="219456" cy="219456"/>
          </a:xfrm>
          <a:prstGeom prst="rect">
            <a:avLst/>
          </a:prstGeom>
        </p:spPr>
      </p:pic>
      <p:sp>
        <p:nvSpPr>
          <p:cNvPr id="24" name="Text 19"/>
          <p:cNvSpPr txBox="1"/>
          <p:nvPr/>
        </p:nvSpPr>
        <p:spPr>
          <a:xfrm>
            <a:off x="1874520" y="3657600"/>
            <a:ext cx="1188720" cy="274320"/>
          </a:xfrm>
          <a:prstGeom prst="rect">
            <a:avLst/>
          </a:prstGeom>
          <a:noFill/>
          <a:ln/>
        </p:spPr>
        <p:txBody>
          <a:bodyPr wrap="square" lIns="0" tIns="0" rIns="0" bIns="0" rtlCol="0" anchor="t"/>
          <a:lstStyle/>
          <a:p>
            <a:pPr marL="0" indent="0" algn="ctr">
              <a:buNone/>
            </a:pPr>
            <a:r>
              <a:rPr lang="en-US" sz="1200" b="1" dirty="0">
                <a:solidFill>
                  <a:srgbClr val="16324F"/>
                </a:solidFill>
                <a:latin typeface="Calibri" pitchFamily="34" charset="0"/>
                <a:ea typeface="Calibri" pitchFamily="34" charset="-122"/>
                <a:cs typeface="Calibri" pitchFamily="34" charset="-120"/>
              </a:rPr>
              <a:t>2. Structure</a:t>
            </a:r>
            <a:endParaRPr lang="en-US" sz="1200" dirty="0"/>
          </a:p>
        </p:txBody>
      </p:sp>
      <p:sp>
        <p:nvSpPr>
          <p:cNvPr id="25" name="Text 20"/>
          <p:cNvSpPr txBox="1"/>
          <p:nvPr/>
        </p:nvSpPr>
        <p:spPr>
          <a:xfrm>
            <a:off x="1920240" y="3950208"/>
            <a:ext cx="1097280" cy="548640"/>
          </a:xfrm>
          <a:prstGeom prst="rect">
            <a:avLst/>
          </a:prstGeom>
          <a:noFill/>
          <a:ln/>
        </p:spPr>
        <p:txBody>
          <a:bodyPr wrap="square" lIns="0" tIns="0" rIns="0" bIns="0" rtlCol="0" anchor="t"/>
          <a:lstStyle/>
          <a:p>
            <a:pPr marL="0" indent="0" algn="ctr">
              <a:buNone/>
            </a:pPr>
            <a:r>
              <a:rPr lang="en-US" sz="1000" dirty="0">
                <a:solidFill>
                  <a:srgbClr val="5B6B78"/>
                </a:solidFill>
                <a:latin typeface="Calibri" pitchFamily="34" charset="0"/>
                <a:ea typeface="Calibri" pitchFamily="34" charset="-122"/>
                <a:cs typeface="Calibri" pitchFamily="34" charset="-120"/>
              </a:rPr>
              <a:t>Expert DAG + bnlearn DAG</a:t>
            </a:r>
            <a:endParaRPr lang="en-US" sz="1000" dirty="0"/>
          </a:p>
        </p:txBody>
      </p:sp>
      <p:sp>
        <p:nvSpPr>
          <p:cNvPr id="26" name="Shape 21"/>
          <p:cNvSpPr/>
          <p:nvPr/>
        </p:nvSpPr>
        <p:spPr>
          <a:xfrm>
            <a:off x="3200400" y="3017520"/>
            <a:ext cx="1280160" cy="160020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27" name="Shape 22"/>
          <p:cNvSpPr/>
          <p:nvPr/>
        </p:nvSpPr>
        <p:spPr>
          <a:xfrm>
            <a:off x="3611880" y="3127248"/>
            <a:ext cx="457200" cy="457200"/>
          </a:xfrm>
          <a:prstGeom prst="ellipse">
            <a:avLst/>
          </a:prstGeom>
          <a:solidFill>
            <a:srgbClr val="2F6B9A"/>
          </a:solidFill>
          <a:ln w="12700">
            <a:solidFill>
              <a:srgbClr val="2F6B9A"/>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3730752" y="3246120"/>
            <a:ext cx="219456" cy="219456"/>
          </a:xfrm>
          <a:prstGeom prst="rect">
            <a:avLst/>
          </a:prstGeom>
        </p:spPr>
      </p:pic>
      <p:sp>
        <p:nvSpPr>
          <p:cNvPr id="29" name="Text 23"/>
          <p:cNvSpPr txBox="1"/>
          <p:nvPr/>
        </p:nvSpPr>
        <p:spPr>
          <a:xfrm>
            <a:off x="3246120" y="3657600"/>
            <a:ext cx="1188720" cy="274320"/>
          </a:xfrm>
          <a:prstGeom prst="rect">
            <a:avLst/>
          </a:prstGeom>
          <a:noFill/>
          <a:ln/>
        </p:spPr>
        <p:txBody>
          <a:bodyPr wrap="square" lIns="0" tIns="0" rIns="0" bIns="0" rtlCol="0" anchor="t"/>
          <a:lstStyle/>
          <a:p>
            <a:pPr marL="0" indent="0" algn="ctr">
              <a:buNone/>
            </a:pPr>
            <a:r>
              <a:rPr lang="en-US" sz="1200" b="1" dirty="0">
                <a:solidFill>
                  <a:srgbClr val="16324F"/>
                </a:solidFill>
                <a:latin typeface="Calibri" pitchFamily="34" charset="0"/>
                <a:ea typeface="Calibri" pitchFamily="34" charset="-122"/>
                <a:cs typeface="Calibri" pitchFamily="34" charset="-120"/>
              </a:rPr>
              <a:t>3. Parameters</a:t>
            </a:r>
            <a:endParaRPr lang="en-US" sz="1200" dirty="0"/>
          </a:p>
        </p:txBody>
      </p:sp>
      <p:sp>
        <p:nvSpPr>
          <p:cNvPr id="30" name="Text 24"/>
          <p:cNvSpPr txBox="1"/>
          <p:nvPr/>
        </p:nvSpPr>
        <p:spPr>
          <a:xfrm>
            <a:off x="3291840" y="3950208"/>
            <a:ext cx="1097280" cy="548640"/>
          </a:xfrm>
          <a:prstGeom prst="rect">
            <a:avLst/>
          </a:prstGeom>
          <a:noFill/>
          <a:ln/>
        </p:spPr>
        <p:txBody>
          <a:bodyPr wrap="square" lIns="0" tIns="0" rIns="0" bIns="0" rtlCol="0" anchor="t"/>
          <a:lstStyle/>
          <a:p>
            <a:pPr marL="0" indent="0" algn="ctr">
              <a:buNone/>
            </a:pPr>
            <a:r>
              <a:rPr lang="en-US" sz="1000" dirty="0">
                <a:solidFill>
                  <a:srgbClr val="5B6B78"/>
                </a:solidFill>
                <a:latin typeface="Calibri" pitchFamily="34" charset="0"/>
                <a:ea typeface="Calibri" pitchFamily="34" charset="-122"/>
                <a:cs typeface="Calibri" pitchFamily="34" charset="-120"/>
              </a:rPr>
              <a:t>CPTs via BDeu, ESS 5</a:t>
            </a:r>
            <a:endParaRPr lang="en-US" sz="1000" dirty="0"/>
          </a:p>
        </p:txBody>
      </p:sp>
      <p:sp>
        <p:nvSpPr>
          <p:cNvPr id="31" name="Shape 25"/>
          <p:cNvSpPr/>
          <p:nvPr/>
        </p:nvSpPr>
        <p:spPr>
          <a:xfrm>
            <a:off x="4572000" y="3017520"/>
            <a:ext cx="1280160" cy="160020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32" name="Shape 26"/>
          <p:cNvSpPr/>
          <p:nvPr/>
        </p:nvSpPr>
        <p:spPr>
          <a:xfrm>
            <a:off x="4983480" y="3127248"/>
            <a:ext cx="457200" cy="457200"/>
          </a:xfrm>
          <a:prstGeom prst="ellipse">
            <a:avLst/>
          </a:prstGeom>
          <a:solidFill>
            <a:srgbClr val="D17C35"/>
          </a:solidFill>
          <a:ln w="12700">
            <a:solidFill>
              <a:srgbClr val="D17C35"/>
            </a:solidFill>
            <a:prstDash val="solid"/>
          </a:ln>
        </p:spPr>
        <p:txBody>
          <a:bodyPr/>
          <a:lstStyle/>
          <a:p>
            <a:endParaRPr lang="en-US"/>
          </a:p>
        </p:txBody>
      </p:sp>
      <p:pic>
        <p:nvPicPr>
          <p:cNvPr id="33" name="Image 3" descr="preencoded.png"/>
          <p:cNvPicPr>
            <a:picLocks noChangeAspect="1"/>
          </p:cNvPicPr>
          <p:nvPr/>
        </p:nvPicPr>
        <p:blipFill>
          <a:blip r:embed="rId6"/>
          <a:stretch>
            <a:fillRect/>
          </a:stretch>
        </p:blipFill>
        <p:spPr>
          <a:xfrm>
            <a:off x="5102352" y="3246120"/>
            <a:ext cx="219456" cy="219456"/>
          </a:xfrm>
          <a:prstGeom prst="rect">
            <a:avLst/>
          </a:prstGeom>
        </p:spPr>
      </p:pic>
      <p:sp>
        <p:nvSpPr>
          <p:cNvPr id="34" name="Text 27"/>
          <p:cNvSpPr txBox="1"/>
          <p:nvPr/>
        </p:nvSpPr>
        <p:spPr>
          <a:xfrm>
            <a:off x="4617720" y="3657600"/>
            <a:ext cx="1188720" cy="274320"/>
          </a:xfrm>
          <a:prstGeom prst="rect">
            <a:avLst/>
          </a:prstGeom>
          <a:noFill/>
          <a:ln/>
        </p:spPr>
        <p:txBody>
          <a:bodyPr wrap="square" lIns="0" tIns="0" rIns="0" bIns="0" rtlCol="0" anchor="t"/>
          <a:lstStyle/>
          <a:p>
            <a:pPr marL="0" indent="0" algn="ctr">
              <a:buNone/>
            </a:pPr>
            <a:r>
              <a:rPr lang="en-US" sz="1200" b="1" dirty="0">
                <a:solidFill>
                  <a:srgbClr val="16324F"/>
                </a:solidFill>
                <a:latin typeface="Calibri" pitchFamily="34" charset="0"/>
                <a:ea typeface="Calibri" pitchFamily="34" charset="-122"/>
                <a:cs typeface="Calibri" pitchFamily="34" charset="-120"/>
              </a:rPr>
              <a:t>4. Inference</a:t>
            </a:r>
            <a:endParaRPr lang="en-US" sz="1200" dirty="0"/>
          </a:p>
        </p:txBody>
      </p:sp>
      <p:sp>
        <p:nvSpPr>
          <p:cNvPr id="35" name="Text 28"/>
          <p:cNvSpPr txBox="1"/>
          <p:nvPr/>
        </p:nvSpPr>
        <p:spPr>
          <a:xfrm>
            <a:off x="4663440" y="3950208"/>
            <a:ext cx="1097280" cy="548640"/>
          </a:xfrm>
          <a:prstGeom prst="rect">
            <a:avLst/>
          </a:prstGeom>
          <a:noFill/>
          <a:ln/>
        </p:spPr>
        <p:txBody>
          <a:bodyPr wrap="square" lIns="0" tIns="0" rIns="0" bIns="0" rtlCol="0" anchor="t"/>
          <a:lstStyle/>
          <a:p>
            <a:pPr marL="0" indent="0" algn="ctr">
              <a:buNone/>
            </a:pPr>
            <a:r>
              <a:rPr lang="en-US" sz="1000" dirty="0">
                <a:solidFill>
                  <a:srgbClr val="5B6B78"/>
                </a:solidFill>
                <a:latin typeface="Calibri" pitchFamily="34" charset="0"/>
                <a:ea typeface="Calibri" pitchFamily="34" charset="-122"/>
                <a:cs typeface="Calibri" pitchFamily="34" charset="-120"/>
              </a:rPr>
              <a:t>Variable elimination</a:t>
            </a:r>
            <a:endParaRPr lang="en-US" sz="1000" dirty="0"/>
          </a:p>
        </p:txBody>
      </p:sp>
      <p:sp>
        <p:nvSpPr>
          <p:cNvPr id="36" name="Shape 29"/>
          <p:cNvSpPr/>
          <p:nvPr/>
        </p:nvSpPr>
        <p:spPr>
          <a:xfrm>
            <a:off x="5943600" y="3017520"/>
            <a:ext cx="1280160" cy="160020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37" name="Shape 30"/>
          <p:cNvSpPr/>
          <p:nvPr/>
        </p:nvSpPr>
        <p:spPr>
          <a:xfrm>
            <a:off x="6355080" y="3127248"/>
            <a:ext cx="457200" cy="457200"/>
          </a:xfrm>
          <a:prstGeom prst="ellipse">
            <a:avLst/>
          </a:prstGeom>
          <a:solidFill>
            <a:srgbClr val="2F6B9A"/>
          </a:solidFill>
          <a:ln w="12700">
            <a:solidFill>
              <a:srgbClr val="2F6B9A"/>
            </a:solidFill>
            <a:prstDash val="solid"/>
          </a:ln>
        </p:spPr>
        <p:txBody>
          <a:bodyPr/>
          <a:lstStyle/>
          <a:p>
            <a:endParaRPr lang="en-US"/>
          </a:p>
        </p:txBody>
      </p:sp>
      <p:pic>
        <p:nvPicPr>
          <p:cNvPr id="38" name="Image 4" descr="preencoded.png"/>
          <p:cNvPicPr>
            <a:picLocks noChangeAspect="1"/>
          </p:cNvPicPr>
          <p:nvPr/>
        </p:nvPicPr>
        <p:blipFill>
          <a:blip r:embed="rId7"/>
          <a:stretch>
            <a:fillRect/>
          </a:stretch>
        </p:blipFill>
        <p:spPr>
          <a:xfrm>
            <a:off x="6473952" y="3246120"/>
            <a:ext cx="219456" cy="219456"/>
          </a:xfrm>
          <a:prstGeom prst="rect">
            <a:avLst/>
          </a:prstGeom>
        </p:spPr>
      </p:pic>
      <p:sp>
        <p:nvSpPr>
          <p:cNvPr id="39" name="Text 31"/>
          <p:cNvSpPr txBox="1"/>
          <p:nvPr/>
        </p:nvSpPr>
        <p:spPr>
          <a:xfrm>
            <a:off x="5989320" y="3657600"/>
            <a:ext cx="1188720" cy="274320"/>
          </a:xfrm>
          <a:prstGeom prst="rect">
            <a:avLst/>
          </a:prstGeom>
          <a:noFill/>
          <a:ln/>
        </p:spPr>
        <p:txBody>
          <a:bodyPr wrap="square" lIns="0" tIns="0" rIns="0" bIns="0" rtlCol="0" anchor="t"/>
          <a:lstStyle/>
          <a:p>
            <a:pPr marL="0" indent="0" algn="ctr">
              <a:buNone/>
            </a:pPr>
            <a:r>
              <a:rPr lang="en-US" sz="1200" b="1" dirty="0">
                <a:solidFill>
                  <a:srgbClr val="16324F"/>
                </a:solidFill>
                <a:latin typeface="Calibri" pitchFamily="34" charset="0"/>
                <a:ea typeface="Calibri" pitchFamily="34" charset="-122"/>
                <a:cs typeface="Calibri" pitchFamily="34" charset="-120"/>
              </a:rPr>
              <a:t>5. Evaluate</a:t>
            </a:r>
            <a:endParaRPr lang="en-US" sz="1200" dirty="0"/>
          </a:p>
        </p:txBody>
      </p:sp>
      <p:sp>
        <p:nvSpPr>
          <p:cNvPr id="40" name="Text 32"/>
          <p:cNvSpPr txBox="1"/>
          <p:nvPr/>
        </p:nvSpPr>
        <p:spPr>
          <a:xfrm>
            <a:off x="6035040" y="3950208"/>
            <a:ext cx="1097280" cy="548640"/>
          </a:xfrm>
          <a:prstGeom prst="rect">
            <a:avLst/>
          </a:prstGeom>
          <a:noFill/>
          <a:ln/>
        </p:spPr>
        <p:txBody>
          <a:bodyPr wrap="square" lIns="0" tIns="0" rIns="0" bIns="0" rtlCol="0" anchor="t"/>
          <a:lstStyle/>
          <a:p>
            <a:pPr marL="0" indent="0" algn="ctr">
              <a:buNone/>
            </a:pPr>
            <a:r>
              <a:rPr lang="en-US" sz="1000" dirty="0">
                <a:solidFill>
                  <a:srgbClr val="5B6B78"/>
                </a:solidFill>
                <a:latin typeface="Calibri" pitchFamily="34" charset="0"/>
                <a:ea typeface="Calibri" pitchFamily="34" charset="-122"/>
                <a:cs typeface="Calibri" pitchFamily="34" charset="-120"/>
              </a:rPr>
              <a:t>Held-out test set</a:t>
            </a:r>
            <a:endParaRPr lang="en-US" sz="1000" dirty="0"/>
          </a:p>
        </p:txBody>
      </p:sp>
      <p:sp>
        <p:nvSpPr>
          <p:cNvPr id="41" name="Shape 33"/>
          <p:cNvSpPr/>
          <p:nvPr/>
        </p:nvSpPr>
        <p:spPr>
          <a:xfrm>
            <a:off x="7315200" y="3017520"/>
            <a:ext cx="1280160" cy="1600200"/>
          </a:xfrm>
          <a:prstGeom prst="roundRect">
            <a:avLst>
              <a:gd name="adj" fmla="val 571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42" name="Shape 34"/>
          <p:cNvSpPr/>
          <p:nvPr/>
        </p:nvSpPr>
        <p:spPr>
          <a:xfrm>
            <a:off x="7726680" y="3127248"/>
            <a:ext cx="457200" cy="457200"/>
          </a:xfrm>
          <a:prstGeom prst="ellipse">
            <a:avLst/>
          </a:prstGeom>
          <a:solidFill>
            <a:srgbClr val="D17C35"/>
          </a:solidFill>
          <a:ln w="12700">
            <a:solidFill>
              <a:srgbClr val="D17C35"/>
            </a:solidFill>
            <a:prstDash val="solid"/>
          </a:ln>
        </p:spPr>
        <p:txBody>
          <a:bodyPr/>
          <a:lstStyle/>
          <a:p>
            <a:endParaRPr lang="en-US"/>
          </a:p>
        </p:txBody>
      </p:sp>
      <p:pic>
        <p:nvPicPr>
          <p:cNvPr id="43" name="Image 5" descr="preencoded.png"/>
          <p:cNvPicPr>
            <a:picLocks noChangeAspect="1"/>
          </p:cNvPicPr>
          <p:nvPr/>
        </p:nvPicPr>
        <p:blipFill>
          <a:blip r:embed="rId8"/>
          <a:stretch>
            <a:fillRect/>
          </a:stretch>
        </p:blipFill>
        <p:spPr>
          <a:xfrm>
            <a:off x="7845552" y="3246120"/>
            <a:ext cx="219456" cy="219456"/>
          </a:xfrm>
          <a:prstGeom prst="rect">
            <a:avLst/>
          </a:prstGeom>
        </p:spPr>
      </p:pic>
      <p:sp>
        <p:nvSpPr>
          <p:cNvPr id="44" name="Text 35"/>
          <p:cNvSpPr txBox="1"/>
          <p:nvPr/>
        </p:nvSpPr>
        <p:spPr>
          <a:xfrm>
            <a:off x="7360920" y="3657600"/>
            <a:ext cx="1188720" cy="274320"/>
          </a:xfrm>
          <a:prstGeom prst="rect">
            <a:avLst/>
          </a:prstGeom>
          <a:noFill/>
          <a:ln/>
        </p:spPr>
        <p:txBody>
          <a:bodyPr wrap="square" lIns="0" tIns="0" rIns="0" bIns="0" rtlCol="0" anchor="t"/>
          <a:lstStyle/>
          <a:p>
            <a:pPr marL="0" indent="0" algn="ctr">
              <a:buNone/>
            </a:pPr>
            <a:r>
              <a:rPr lang="en-US" sz="1200" b="1" dirty="0">
                <a:solidFill>
                  <a:srgbClr val="16324F"/>
                </a:solidFill>
                <a:latin typeface="Calibri" pitchFamily="34" charset="0"/>
                <a:ea typeface="Calibri" pitchFamily="34" charset="-122"/>
                <a:cs typeface="Calibri" pitchFamily="34" charset="-120"/>
              </a:rPr>
              <a:t>6. Compare</a:t>
            </a:r>
            <a:endParaRPr lang="en-US" sz="1200" dirty="0"/>
          </a:p>
        </p:txBody>
      </p:sp>
      <p:sp>
        <p:nvSpPr>
          <p:cNvPr id="45" name="Text 36"/>
          <p:cNvSpPr txBox="1"/>
          <p:nvPr/>
        </p:nvSpPr>
        <p:spPr>
          <a:xfrm>
            <a:off x="7406640" y="3950208"/>
            <a:ext cx="1097280" cy="548640"/>
          </a:xfrm>
          <a:prstGeom prst="rect">
            <a:avLst/>
          </a:prstGeom>
          <a:noFill/>
          <a:ln/>
        </p:spPr>
        <p:txBody>
          <a:bodyPr wrap="square" lIns="0" tIns="0" rIns="0" bIns="0" rtlCol="0" anchor="t"/>
          <a:lstStyle/>
          <a:p>
            <a:pPr marL="0" indent="0" algn="ctr">
              <a:buNone/>
            </a:pPr>
            <a:r>
              <a:rPr lang="en-US" sz="1000" dirty="0">
                <a:solidFill>
                  <a:srgbClr val="5B6B78"/>
                </a:solidFill>
                <a:latin typeface="Calibri" pitchFamily="34" charset="0"/>
                <a:ea typeface="Calibri" pitchFamily="34" charset="-122"/>
                <a:cs typeface="Calibri" pitchFamily="34" charset="-120"/>
              </a:rPr>
              <a:t>Accuracy vs interpretability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Data Collection and Preparation</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457200" y="1005840"/>
            <a:ext cx="1783080" cy="960120"/>
          </a:xfrm>
          <a:prstGeom prst="roundRect">
            <a:avLst>
              <a:gd name="adj" fmla="val 761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7" name="Text 4"/>
          <p:cNvSpPr txBox="1"/>
          <p:nvPr/>
        </p:nvSpPr>
        <p:spPr>
          <a:xfrm>
            <a:off x="548640" y="1097280"/>
            <a:ext cx="1600200" cy="480060"/>
          </a:xfrm>
          <a:prstGeom prst="rect">
            <a:avLst/>
          </a:prstGeom>
          <a:noFill/>
          <a:ln/>
        </p:spPr>
        <p:txBody>
          <a:bodyPr wrap="square" lIns="0" tIns="0" rIns="0" bIns="0" rtlCol="0" anchor="ctr"/>
          <a:lstStyle/>
          <a:p>
            <a:pPr marL="0" indent="0" algn="ctr">
              <a:buNone/>
            </a:pPr>
            <a:r>
              <a:rPr lang="en-US" sz="3000" b="1" dirty="0">
                <a:solidFill>
                  <a:srgbClr val="2F6B9A"/>
                </a:solidFill>
                <a:latin typeface="Cambria" pitchFamily="34" charset="0"/>
                <a:ea typeface="Cambria" pitchFamily="34" charset="-122"/>
                <a:cs typeface="Cambria" pitchFamily="34" charset="-120"/>
              </a:rPr>
              <a:t>242 / 61</a:t>
            </a:r>
            <a:endParaRPr lang="en-US" sz="3000" dirty="0"/>
          </a:p>
        </p:txBody>
      </p:sp>
      <p:sp>
        <p:nvSpPr>
          <p:cNvPr id="8" name="Text 5"/>
          <p:cNvSpPr txBox="1"/>
          <p:nvPr/>
        </p:nvSpPr>
        <p:spPr>
          <a:xfrm>
            <a:off x="566928" y="1562710"/>
            <a:ext cx="1563624" cy="364846"/>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train / test split</a:t>
            </a:r>
            <a:endParaRPr lang="en-US" sz="1100" dirty="0"/>
          </a:p>
        </p:txBody>
      </p:sp>
      <p:sp>
        <p:nvSpPr>
          <p:cNvPr id="9" name="Shape 6"/>
          <p:cNvSpPr/>
          <p:nvPr/>
        </p:nvSpPr>
        <p:spPr>
          <a:xfrm>
            <a:off x="2377440" y="1005840"/>
            <a:ext cx="1783080" cy="960120"/>
          </a:xfrm>
          <a:prstGeom prst="roundRect">
            <a:avLst>
              <a:gd name="adj" fmla="val 761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0" name="Text 7"/>
          <p:cNvSpPr txBox="1"/>
          <p:nvPr/>
        </p:nvSpPr>
        <p:spPr>
          <a:xfrm>
            <a:off x="2468880" y="1097280"/>
            <a:ext cx="1600200" cy="480060"/>
          </a:xfrm>
          <a:prstGeom prst="rect">
            <a:avLst/>
          </a:prstGeom>
          <a:noFill/>
          <a:ln/>
        </p:spPr>
        <p:txBody>
          <a:bodyPr wrap="square" lIns="0" tIns="0" rIns="0" bIns="0" rtlCol="0" anchor="ctr"/>
          <a:lstStyle/>
          <a:p>
            <a:pPr marL="0" indent="0" algn="ctr">
              <a:buNone/>
            </a:pPr>
            <a:r>
              <a:rPr lang="en-US" sz="3000" b="1" dirty="0">
                <a:solidFill>
                  <a:srgbClr val="D17C35"/>
                </a:solidFill>
                <a:latin typeface="Cambria" pitchFamily="34" charset="0"/>
                <a:ea typeface="Cambria" pitchFamily="34" charset="-122"/>
                <a:cs typeface="Cambria" pitchFamily="34" charset="-120"/>
              </a:rPr>
              <a:t>6</a:t>
            </a:r>
            <a:endParaRPr lang="en-US" sz="3000" dirty="0"/>
          </a:p>
        </p:txBody>
      </p:sp>
      <p:sp>
        <p:nvSpPr>
          <p:cNvPr id="11" name="Text 8"/>
          <p:cNvSpPr txBox="1"/>
          <p:nvPr/>
        </p:nvSpPr>
        <p:spPr>
          <a:xfrm>
            <a:off x="2487168" y="1562710"/>
            <a:ext cx="1563624" cy="364846"/>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missing cells (ca 4, thal 2)</a:t>
            </a:r>
            <a:endParaRPr lang="en-US" sz="1100" dirty="0"/>
          </a:p>
        </p:txBody>
      </p:sp>
      <p:sp>
        <p:nvSpPr>
          <p:cNvPr id="12" name="Shape 9"/>
          <p:cNvSpPr/>
          <p:nvPr/>
        </p:nvSpPr>
        <p:spPr>
          <a:xfrm>
            <a:off x="457200" y="2103120"/>
            <a:ext cx="1783080" cy="960120"/>
          </a:xfrm>
          <a:prstGeom prst="roundRect">
            <a:avLst>
              <a:gd name="adj" fmla="val 761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3" name="Text 10"/>
          <p:cNvSpPr txBox="1"/>
          <p:nvPr/>
        </p:nvSpPr>
        <p:spPr>
          <a:xfrm>
            <a:off x="548640" y="2194560"/>
            <a:ext cx="1600200" cy="480060"/>
          </a:xfrm>
          <a:prstGeom prst="rect">
            <a:avLst/>
          </a:prstGeom>
          <a:noFill/>
          <a:ln/>
        </p:spPr>
        <p:txBody>
          <a:bodyPr wrap="square" lIns="0" tIns="0" rIns="0" bIns="0" rtlCol="0" anchor="ctr"/>
          <a:lstStyle/>
          <a:p>
            <a:pPr marL="0" indent="0" algn="ctr">
              <a:buNone/>
            </a:pPr>
            <a:r>
              <a:rPr lang="en-US" sz="3000" b="1" dirty="0">
                <a:solidFill>
                  <a:srgbClr val="2F6B9A"/>
                </a:solidFill>
                <a:latin typeface="Cambria" pitchFamily="34" charset="0"/>
                <a:ea typeface="Cambria" pitchFamily="34" charset="-122"/>
                <a:cs typeface="Cambria" pitchFamily="34" charset="-120"/>
              </a:rPr>
              <a:t>45.9%</a:t>
            </a:r>
            <a:endParaRPr lang="en-US" sz="3000" dirty="0"/>
          </a:p>
        </p:txBody>
      </p:sp>
      <p:sp>
        <p:nvSpPr>
          <p:cNvPr id="14" name="Text 11"/>
          <p:cNvSpPr txBox="1"/>
          <p:nvPr/>
        </p:nvSpPr>
        <p:spPr>
          <a:xfrm>
            <a:off x="566928" y="2659990"/>
            <a:ext cx="1563624" cy="364846"/>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disease prevalence</a:t>
            </a:r>
            <a:endParaRPr lang="en-US" sz="1100" dirty="0"/>
          </a:p>
        </p:txBody>
      </p:sp>
      <p:sp>
        <p:nvSpPr>
          <p:cNvPr id="15" name="Shape 12"/>
          <p:cNvSpPr/>
          <p:nvPr/>
        </p:nvSpPr>
        <p:spPr>
          <a:xfrm>
            <a:off x="2377440" y="2103120"/>
            <a:ext cx="1783080" cy="960120"/>
          </a:xfrm>
          <a:prstGeom prst="roundRect">
            <a:avLst>
              <a:gd name="adj" fmla="val 761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6" name="Text 13"/>
          <p:cNvSpPr txBox="1"/>
          <p:nvPr/>
        </p:nvSpPr>
        <p:spPr>
          <a:xfrm>
            <a:off x="2468880" y="2194560"/>
            <a:ext cx="1600200" cy="480060"/>
          </a:xfrm>
          <a:prstGeom prst="rect">
            <a:avLst/>
          </a:prstGeom>
          <a:noFill/>
          <a:ln/>
        </p:spPr>
        <p:txBody>
          <a:bodyPr wrap="square" lIns="0" tIns="0" rIns="0" bIns="0" rtlCol="0" anchor="ctr"/>
          <a:lstStyle/>
          <a:p>
            <a:pPr marL="0" indent="0" algn="ctr">
              <a:buNone/>
            </a:pPr>
            <a:r>
              <a:rPr lang="en-US" sz="3000" b="1" dirty="0">
                <a:solidFill>
                  <a:srgbClr val="D17C35"/>
                </a:solidFill>
                <a:latin typeface="Cambria" pitchFamily="34" charset="0"/>
                <a:ea typeface="Cambria" pitchFamily="34" charset="-122"/>
                <a:cs typeface="Cambria" pitchFamily="34" charset="-120"/>
              </a:rPr>
              <a:t>0</a:t>
            </a:r>
            <a:endParaRPr lang="en-US" sz="3000" dirty="0"/>
          </a:p>
        </p:txBody>
      </p:sp>
      <p:sp>
        <p:nvSpPr>
          <p:cNvPr id="17" name="Text 14"/>
          <p:cNvSpPr txBox="1"/>
          <p:nvPr/>
        </p:nvSpPr>
        <p:spPr>
          <a:xfrm>
            <a:off x="2487168" y="2659990"/>
            <a:ext cx="1563624" cy="364846"/>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duplicate rows</a:t>
            </a:r>
            <a:endParaRPr lang="en-US" sz="1100" dirty="0"/>
          </a:p>
        </p:txBody>
      </p:sp>
      <p:graphicFrame>
        <p:nvGraphicFramePr>
          <p:cNvPr id="18" name="Chart 0"/>
          <p:cNvGraphicFramePr/>
          <p:nvPr>
            <p:extLst>
              <p:ext uri="{D42A27DB-BD31-4B8C-83A1-F6EECF244321}">
                <p14:modId xmlns:p14="http://schemas.microsoft.com/office/powerpoint/2010/main" val="3898894903"/>
              </p:ext>
            </p:extLst>
          </p:nvPr>
        </p:nvGraphicFramePr>
        <p:xfrm>
          <a:off x="4343400" y="804672"/>
          <a:ext cx="4480560" cy="2350008"/>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5"/>
          <p:cNvSpPr/>
          <p:nvPr/>
        </p:nvSpPr>
        <p:spPr>
          <a:xfrm>
            <a:off x="457200" y="3291840"/>
            <a:ext cx="8229600" cy="1371600"/>
          </a:xfrm>
          <a:prstGeom prst="roundRect">
            <a:avLst>
              <a:gd name="adj" fmla="val 5333"/>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20" name="Text 16"/>
          <p:cNvSpPr txBox="1"/>
          <p:nvPr/>
        </p:nvSpPr>
        <p:spPr>
          <a:xfrm>
            <a:off x="640080" y="3364992"/>
            <a:ext cx="2743200" cy="274320"/>
          </a:xfrm>
          <a:prstGeom prst="rect">
            <a:avLst/>
          </a:prstGeom>
          <a:noFill/>
          <a:ln/>
        </p:spPr>
        <p:txBody>
          <a:bodyPr wrap="square" lIns="0" tIns="0" rIns="0" bIns="0" rtlCol="0" anchor="t"/>
          <a:lstStyle/>
          <a:p>
            <a:pPr marL="0" indent="0">
              <a:buNone/>
            </a:pPr>
            <a:r>
              <a:rPr lang="en-US" sz="1300" b="1" dirty="0">
                <a:solidFill>
                  <a:srgbClr val="16324F"/>
                </a:solidFill>
                <a:latin typeface="Calibri" pitchFamily="34" charset="0"/>
                <a:ea typeface="Calibri" pitchFamily="34" charset="-122"/>
                <a:cs typeface="Calibri" pitchFamily="34" charset="-120"/>
              </a:rPr>
              <a:t>Pipeline decisions</a:t>
            </a:r>
            <a:endParaRPr lang="en-US" sz="1300" dirty="0"/>
          </a:p>
        </p:txBody>
      </p:sp>
      <p:sp>
        <p:nvSpPr>
          <p:cNvPr id="21" name="Text 17"/>
          <p:cNvSpPr txBox="1"/>
          <p:nvPr/>
        </p:nvSpPr>
        <p:spPr>
          <a:xfrm>
            <a:off x="640080" y="3657600"/>
            <a:ext cx="7863840" cy="1005840"/>
          </a:xfrm>
          <a:prstGeom prst="rect">
            <a:avLst/>
          </a:prstGeom>
          <a:noFill/>
          <a:ln/>
        </p:spPr>
        <p:txBody>
          <a:bodyPr wrap="square" lIns="0" tIns="0" rIns="0" bIns="0" rtlCol="0" anchor="t"/>
          <a:lstStyle/>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Missing: </a:t>
            </a:r>
            <a:r>
              <a:rPr lang="en-US" sz="1050" dirty="0">
                <a:solidFill>
                  <a:srgbClr val="263238"/>
                </a:solidFill>
                <a:latin typeface="Calibri" pitchFamily="34" charset="0"/>
                <a:ea typeface="Calibri" pitchFamily="34" charset="-122"/>
                <a:cs typeface="Calibri" pitchFamily="34" charset="-120"/>
              </a:rPr>
              <a:t>training median (continuous) or mode (categorical); no rows dropped</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Leakage: </a:t>
            </a:r>
            <a:r>
              <a:rPr lang="en-US" sz="1050" dirty="0">
                <a:solidFill>
                  <a:srgbClr val="263238"/>
                </a:solidFill>
                <a:latin typeface="Calibri" pitchFamily="34" charset="0"/>
                <a:ea typeface="Calibri" pitchFamily="34" charset="-122"/>
                <a:cs typeface="Calibri" pitchFamily="34" charset="-120"/>
              </a:rPr>
              <a:t>original 0-4 outcome removed from predictors; target is heartdisease_bin</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Discretisation: </a:t>
            </a:r>
            <a:r>
              <a:rPr lang="en-US" sz="1050" dirty="0">
                <a:solidFill>
                  <a:srgbClr val="263238"/>
                </a:solidFill>
                <a:latin typeface="Calibri" pitchFamily="34" charset="0"/>
                <a:ea typeface="Calibri" pitchFamily="34" charset="-122"/>
                <a:cs typeface="Calibri" pitchFamily="34" charset="-120"/>
              </a:rPr>
              <a:t>age, BP, chol, thalach into training tertiles (Low/Med/High); oldpeak: 0 = No depression, then split at the median</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Balance: </a:t>
            </a:r>
            <a:r>
              <a:rPr lang="en-US" sz="1050" dirty="0">
                <a:solidFill>
                  <a:srgbClr val="263238"/>
                </a:solidFill>
                <a:latin typeface="Calibri" pitchFamily="34" charset="0"/>
                <a:ea typeface="Calibri" pitchFamily="34" charset="-122"/>
                <a:cs typeface="Calibri" pitchFamily="34" charset="-120"/>
              </a:rPr>
              <a:t>moderate imbalance only, so we report recall and precision, not just accuracy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Exploratory Analysis: What Separates the Groups?</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4</a:t>
            </a:r>
            <a:endParaRPr lang="en-US" sz="900" dirty="0"/>
          </a:p>
        </p:txBody>
      </p:sp>
      <p:pic>
        <p:nvPicPr>
          <p:cNvPr id="6" name="Image 0" descr="/home/claude/img/c12_1.png"/>
          <p:cNvPicPr>
            <a:picLocks noChangeAspect="1"/>
          </p:cNvPicPr>
          <p:nvPr/>
        </p:nvPicPr>
        <p:blipFill>
          <a:blip r:embed="rId3"/>
          <a:stretch>
            <a:fillRect/>
          </a:stretch>
        </p:blipFill>
        <p:spPr>
          <a:xfrm>
            <a:off x="457200" y="960120"/>
            <a:ext cx="5120640" cy="3248071"/>
          </a:xfrm>
          <a:prstGeom prst="rect">
            <a:avLst/>
          </a:prstGeom>
        </p:spPr>
      </p:pic>
      <p:sp>
        <p:nvSpPr>
          <p:cNvPr id="7" name="Text 3"/>
          <p:cNvSpPr txBox="1"/>
          <p:nvPr/>
        </p:nvSpPr>
        <p:spPr>
          <a:xfrm>
            <a:off x="457200" y="4281343"/>
            <a:ext cx="5120640" cy="411480"/>
          </a:xfrm>
          <a:prstGeom prst="rect">
            <a:avLst/>
          </a:prstGeom>
          <a:noFill/>
          <a:ln/>
        </p:spPr>
        <p:txBody>
          <a:bodyPr wrap="square" lIns="0" tIns="0" rIns="0" bIns="0" rtlCol="0" anchor="t"/>
          <a:lstStyle/>
          <a:p>
            <a:pPr marL="0" indent="0">
              <a:buNone/>
            </a:pPr>
            <a:r>
              <a:rPr lang="en-US" sz="1000" dirty="0">
                <a:solidFill>
                  <a:srgbClr val="5B6B78"/>
                </a:solidFill>
                <a:latin typeface="Calibri" pitchFamily="34" charset="0"/>
                <a:ea typeface="Calibri" pitchFamily="34" charset="-122"/>
                <a:cs typeface="Calibri" pitchFamily="34" charset="-120"/>
              </a:rPr>
              <a:t>Bars show observed disease proportion with 95% Wilson intervals. These are unadjusted associations, not causal effects.</a:t>
            </a:r>
            <a:endParaRPr lang="en-US" sz="1000" dirty="0"/>
          </a:p>
        </p:txBody>
      </p:sp>
      <p:graphicFrame>
        <p:nvGraphicFramePr>
          <p:cNvPr id="8" name="Chart 0"/>
          <p:cNvGraphicFramePr/>
          <p:nvPr/>
        </p:nvGraphicFramePr>
        <p:xfrm>
          <a:off x="5760720" y="914400"/>
          <a:ext cx="292608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4"/>
          <p:cNvSpPr txBox="1"/>
          <p:nvPr/>
        </p:nvSpPr>
        <p:spPr>
          <a:xfrm>
            <a:off x="5760720" y="4206240"/>
            <a:ext cx="2926080" cy="365760"/>
          </a:xfrm>
          <a:prstGeom prst="rect">
            <a:avLst/>
          </a:prstGeom>
          <a:noFill/>
          <a:ln/>
        </p:spPr>
        <p:txBody>
          <a:bodyPr wrap="square" lIns="0" tIns="0" rIns="0" bIns="0" rtlCol="0" anchor="t"/>
          <a:lstStyle/>
          <a:p>
            <a:pPr marL="0" indent="0">
              <a:buNone/>
            </a:pPr>
            <a:r>
              <a:rPr lang="en-US" sz="1100" b="1" dirty="0">
                <a:solidFill>
                  <a:srgbClr val="16324F"/>
                </a:solidFill>
                <a:latin typeface="Calibri" pitchFamily="34" charset="0"/>
                <a:ea typeface="Calibri" pitchFamily="34" charset="-122"/>
                <a:cs typeface="Calibri" pitchFamily="34" charset="-120"/>
              </a:rPr>
              <a:t>Strongest: thal, cp, ca. Weakest: fbs, BP, chol.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Expert DAG: Clinical Knowledge as a Graph</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914400"/>
            <a:ext cx="5486400" cy="3611880"/>
          </a:xfrm>
          <a:prstGeom prst="roundRect">
            <a:avLst>
              <a:gd name="adj" fmla="val 2025"/>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pic>
        <p:nvPicPr>
          <p:cNvPr id="7" name="Image 0" descr="/home/claude/expert_dag.png"/>
          <p:cNvPicPr>
            <a:picLocks noChangeAspect="1"/>
          </p:cNvPicPr>
          <p:nvPr/>
        </p:nvPicPr>
        <p:blipFill>
          <a:blip r:embed="rId3"/>
          <a:stretch>
            <a:fillRect/>
          </a:stretch>
        </p:blipFill>
        <p:spPr>
          <a:xfrm>
            <a:off x="548640" y="960120"/>
            <a:ext cx="5303520" cy="3314700"/>
          </a:xfrm>
          <a:prstGeom prst="rect">
            <a:avLst/>
          </a:prstGeom>
        </p:spPr>
      </p:pic>
      <p:sp>
        <p:nvSpPr>
          <p:cNvPr id="8" name="Text 4"/>
          <p:cNvSpPr txBox="1"/>
          <p:nvPr/>
        </p:nvSpPr>
        <p:spPr>
          <a:xfrm>
            <a:off x="457200" y="4572000"/>
            <a:ext cx="5486400" cy="228600"/>
          </a:xfrm>
          <a:prstGeom prst="rect">
            <a:avLst/>
          </a:prstGeom>
          <a:noFill/>
          <a:ln/>
        </p:spPr>
        <p:txBody>
          <a:bodyPr wrap="square" lIns="0" tIns="0" rIns="0" bIns="0" rtlCol="0" anchor="t"/>
          <a:lstStyle/>
          <a:p>
            <a:pPr marL="0" indent="0">
              <a:buNone/>
            </a:pPr>
            <a:r>
              <a:rPr lang="en-US" sz="950" dirty="0">
                <a:solidFill>
                  <a:srgbClr val="5B6B78"/>
                </a:solidFill>
                <a:latin typeface="Calibri" pitchFamily="34" charset="0"/>
                <a:ea typeface="Calibri" pitchFamily="34" charset="-122"/>
                <a:cs typeface="Calibri" pitchFamily="34" charset="-120"/>
              </a:rPr>
              <a:t>green = also learned, orange = reversed when learned, grey = expert only</a:t>
            </a:r>
            <a:endParaRPr lang="en-US" sz="950" dirty="0"/>
          </a:p>
        </p:txBody>
      </p:sp>
      <p:sp>
        <p:nvSpPr>
          <p:cNvPr id="9" name="Shape 5"/>
          <p:cNvSpPr/>
          <p:nvPr/>
        </p:nvSpPr>
        <p:spPr>
          <a:xfrm>
            <a:off x="6126480" y="914400"/>
            <a:ext cx="2560320" cy="3611880"/>
          </a:xfrm>
          <a:prstGeom prst="roundRect">
            <a:avLst>
              <a:gd name="adj" fmla="val 2857"/>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0" name="Text 6"/>
          <p:cNvSpPr txBox="1"/>
          <p:nvPr/>
        </p:nvSpPr>
        <p:spPr>
          <a:xfrm>
            <a:off x="6263640" y="1005840"/>
            <a:ext cx="2286000" cy="274320"/>
          </a:xfrm>
          <a:prstGeom prst="rect">
            <a:avLst/>
          </a:prstGeom>
          <a:noFill/>
          <a:ln/>
        </p:spPr>
        <p:txBody>
          <a:bodyPr wrap="square" lIns="0" tIns="0" rIns="0" bIns="0" rtlCol="0" anchor="t"/>
          <a:lstStyle/>
          <a:p>
            <a:pPr marL="0" indent="0">
              <a:buNone/>
            </a:pPr>
            <a:r>
              <a:rPr lang="en-US" sz="1300" b="1" dirty="0">
                <a:solidFill>
                  <a:srgbClr val="D17C35"/>
                </a:solidFill>
                <a:latin typeface="Calibri" pitchFamily="34" charset="0"/>
                <a:ea typeface="Calibri" pitchFamily="34" charset="-122"/>
                <a:cs typeface="Calibri" pitchFamily="34" charset="-120"/>
              </a:rPr>
              <a:t>Main pathways into disease</a:t>
            </a:r>
            <a:endParaRPr lang="en-US" sz="1300" dirty="0"/>
          </a:p>
        </p:txBody>
      </p:sp>
      <p:sp>
        <p:nvSpPr>
          <p:cNvPr id="11" name="Text 7"/>
          <p:cNvSpPr txBox="1"/>
          <p:nvPr/>
        </p:nvSpPr>
        <p:spPr>
          <a:xfrm>
            <a:off x="6263640" y="1325880"/>
            <a:ext cx="2331720" cy="3108960"/>
          </a:xfrm>
          <a:prstGeom prst="rect">
            <a:avLst/>
          </a:prstGeom>
          <a:noFill/>
          <a:ln/>
        </p:spPr>
        <p:txBody>
          <a:bodyPr wrap="square" lIns="0" tIns="0" rIns="0" bIns="0" rtlCol="0" anchor="t"/>
          <a:lstStyle/>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1. Risk factors: </a:t>
            </a:r>
            <a:r>
              <a:rPr lang="en-US" sz="1050" dirty="0">
                <a:solidFill>
                  <a:srgbClr val="263238"/>
                </a:solidFill>
                <a:latin typeface="Calibri" pitchFamily="34" charset="0"/>
                <a:ea typeface="Calibri" pitchFamily="34" charset="-122"/>
                <a:cs typeface="Calibri" pitchFamily="34" charset="-120"/>
              </a:rPr>
              <a:t>age, sex, blood pressure, cholesterol and fasting glucose feed disease (5 arrows)</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2. Age effects: </a:t>
            </a:r>
            <a:r>
              <a:rPr lang="en-US" sz="1050" dirty="0">
                <a:solidFill>
                  <a:srgbClr val="263238"/>
                </a:solidFill>
                <a:latin typeface="Calibri" pitchFamily="34" charset="0"/>
                <a:ea typeface="Calibri" pitchFamily="34" charset="-122"/>
                <a:cs typeface="Calibri" pitchFamily="34" charset="-120"/>
              </a:rPr>
              <a:t>age also shapes BP, cholesterol, glucose and max heart rate</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3. Findings: </a:t>
            </a:r>
            <a:r>
              <a:rPr lang="en-US" sz="1050" dirty="0">
                <a:solidFill>
                  <a:srgbClr val="263238"/>
                </a:solidFill>
                <a:latin typeface="Calibri" pitchFamily="34" charset="0"/>
                <a:ea typeface="Calibri" pitchFamily="34" charset="-122"/>
                <a:cs typeface="Calibri" pitchFamily="34" charset="-120"/>
              </a:rPr>
              <a:t>disease drives thal, ca, cp, exang, ST depression, slope, thalach and ECG (8 arrows)</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4. Chains: </a:t>
            </a:r>
            <a:r>
              <a:rPr lang="en-US" sz="1050" dirty="0">
                <a:solidFill>
                  <a:srgbClr val="263238"/>
                </a:solidFill>
                <a:latin typeface="Calibri" pitchFamily="34" charset="0"/>
                <a:ea typeface="Calibri" pitchFamily="34" charset="-122"/>
                <a:cs typeface="Calibri" pitchFamily="34" charset="-120"/>
              </a:rPr>
              <a:t>cp to exang to oldpeak to slope link related exercise findings</a:t>
            </a:r>
            <a:endParaRPr lang="en-US" sz="1050" dirty="0"/>
          </a:p>
        </p:txBody>
      </p:sp>
      <p:sp>
        <p:nvSpPr>
          <p:cNvPr id="12" name="TextBox 11">
            <a:extLst>
              <a:ext uri="{FF2B5EF4-FFF2-40B4-BE49-F238E27FC236}">
                <a16:creationId xmlns:a16="http://schemas.microsoft.com/office/drawing/2014/main" id="{D37203ED-D24B-A25A-EABB-EDB8E32EE91E}"/>
              </a:ext>
            </a:extLst>
          </p:cNvPr>
          <p:cNvSpPr txBox="1"/>
          <p:nvPr/>
        </p:nvSpPr>
        <p:spPr>
          <a:xfrm>
            <a:off x="6217919" y="3401106"/>
            <a:ext cx="2468881" cy="415498"/>
          </a:xfrm>
          <a:prstGeom prst="rect">
            <a:avLst/>
          </a:prstGeom>
          <a:noFill/>
        </p:spPr>
        <p:txBody>
          <a:bodyPr wrap="square">
            <a:spAutoFit/>
          </a:bodyPr>
          <a:lstStyle/>
          <a:p>
            <a:pPr>
              <a:defRPr sz="1725" b="1">
                <a:solidFill>
                  <a:srgbClr val="2F6B9A"/>
                </a:solidFill>
                <a:latin typeface="Helvetica Neue"/>
                <a:ea typeface="Helvetica Neue"/>
                <a:cs typeface="Helvetica Neue"/>
              </a:defRPr>
            </a:pPr>
            <a:r>
              <a:rPr lang="en-ZA" sz="1050" b="1" dirty="0">
                <a:solidFill>
                  <a:srgbClr val="2F6B9A"/>
                </a:solidFill>
                <a:ea typeface="Helvetica Neue"/>
                <a:cs typeface="Helvetica Neue"/>
              </a:rPr>
              <a:t>21 arrows</a:t>
            </a:r>
          </a:p>
          <a:p>
            <a:pPr>
              <a:defRPr sz="1725" b="1">
                <a:solidFill>
                  <a:srgbClr val="2F6B9A"/>
                </a:solidFill>
                <a:latin typeface="Helvetica Neue"/>
                <a:ea typeface="Helvetica Neue"/>
                <a:cs typeface="Helvetica Neue"/>
              </a:defRPr>
            </a:pPr>
            <a:r>
              <a:rPr lang="en-ZA" sz="1050" b="1" dirty="0">
                <a:solidFill>
                  <a:srgbClr val="2F6B9A"/>
                </a:solidFill>
                <a:ea typeface="Helvetica Neue"/>
                <a:cs typeface="Helvetica Neue"/>
              </a:rPr>
              <a:t>5 target parents &amp; 8 target children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Expert DAG: Justification for Every Edge</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657600"/>
        </p:xfrm>
        <a:graphic>
          <a:graphicData uri="http://schemas.openxmlformats.org/drawingml/2006/table">
            <a:tbl>
              <a:tblPr/>
              <a:tblGrid>
                <a:gridCol w="265176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tblGrid>
              <a:tr h="45720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Edge(s)</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Why the parent plausibly influences the child</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age to trestbps, fbs, chol (3)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Blood pressure, glucose and cholesterol distributions vary with age; fbs is a glucose indicator, not a diabetes diagnosis</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age to thalach (1)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Maximum achievable heart rate declines with age (Tanaka et al., 2001)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2"/>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age, sex, trestbps, chol, fbs to disease (5)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Baseline cardiovascular risk information; sex allows different baseline disease distributions</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trestbps to restecg; disease to restecg (2)</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Resting ECG can show hypertrophy linked to blood pressure; ECG findings differ by disease status</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disease to thal, ca (2)</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Perfusion scan and fluoroscopy are diagnostic investigations of disease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disease to cp, exang, oldpeak, slope, thalach (5)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Symptoms and exercise-test responses are disease-conditioned findings</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6"/>
                  </a:ext>
                </a:extLst>
              </a:tr>
              <a:tr h="45720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cp to exang; exang to oldpeak; oldpeak to slope (3)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Related symptoms and ECG summaries of the same exercise response; direction is a factorisation choice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3"/>
          <p:cNvSpPr txBox="1"/>
          <p:nvPr/>
        </p:nvSpPr>
        <p:spPr>
          <a:xfrm>
            <a:off x="457200" y="4617720"/>
            <a:ext cx="8229600" cy="228600"/>
          </a:xfrm>
          <a:prstGeom prst="rect">
            <a:avLst/>
          </a:prstGeom>
          <a:noFill/>
          <a:ln/>
        </p:spPr>
        <p:txBody>
          <a:bodyPr wrap="square" lIns="0" tIns="0" rIns="0" bIns="0" rtlCol="0" anchor="t"/>
          <a:lstStyle/>
          <a:p>
            <a:pPr marL="0" indent="0">
              <a:buNone/>
            </a:pPr>
            <a:r>
              <a:rPr lang="en-US" sz="1100" b="1" dirty="0">
                <a:solidFill>
                  <a:srgbClr val="D17C35"/>
                </a:solidFill>
                <a:latin typeface="Calibri" pitchFamily="34" charset="0"/>
                <a:ea typeface="Calibri" pitchFamily="34" charset="-122"/>
                <a:cs typeface="Calibri" pitchFamily="34" charset="-120"/>
              </a:rPr>
              <a:t>These arrows encode a clinical story, not proven causation.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bnlearn DAG: Structure Learned from Data</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457200" y="914400"/>
            <a:ext cx="5486400" cy="3611880"/>
          </a:xfrm>
          <a:prstGeom prst="roundRect">
            <a:avLst>
              <a:gd name="adj" fmla="val 2025"/>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pic>
        <p:nvPicPr>
          <p:cNvPr id="7" name="Image 0" descr="/home/claude/learned_dag.png"/>
          <p:cNvPicPr>
            <a:picLocks noChangeAspect="1"/>
          </p:cNvPicPr>
          <p:nvPr/>
        </p:nvPicPr>
        <p:blipFill>
          <a:blip r:embed="rId3"/>
          <a:stretch>
            <a:fillRect/>
          </a:stretch>
        </p:blipFill>
        <p:spPr>
          <a:xfrm>
            <a:off x="548640" y="960120"/>
            <a:ext cx="5303520" cy="3314700"/>
          </a:xfrm>
          <a:prstGeom prst="rect">
            <a:avLst/>
          </a:prstGeom>
        </p:spPr>
      </p:pic>
      <p:sp>
        <p:nvSpPr>
          <p:cNvPr id="8" name="Text 4"/>
          <p:cNvSpPr txBox="1"/>
          <p:nvPr/>
        </p:nvSpPr>
        <p:spPr>
          <a:xfrm>
            <a:off x="457200" y="4572000"/>
            <a:ext cx="5486400" cy="228600"/>
          </a:xfrm>
          <a:prstGeom prst="rect">
            <a:avLst/>
          </a:prstGeom>
          <a:noFill/>
          <a:ln/>
        </p:spPr>
        <p:txBody>
          <a:bodyPr wrap="square" lIns="0" tIns="0" rIns="0" bIns="0" rtlCol="0" anchor="t"/>
          <a:lstStyle/>
          <a:p>
            <a:pPr marL="0" indent="0">
              <a:buNone/>
            </a:pPr>
            <a:r>
              <a:rPr lang="en-US" sz="950" dirty="0">
                <a:solidFill>
                  <a:srgbClr val="5B6B78"/>
                </a:solidFill>
                <a:latin typeface="Calibri" pitchFamily="34" charset="0"/>
                <a:ea typeface="Calibri" pitchFamily="34" charset="-122"/>
                <a:cs typeface="Calibri" pitchFamily="34" charset="-120"/>
              </a:rPr>
              <a:t>14 nodes, 11 arrows  |  green = also in expert, orange = reversed vs expert, blue = learned only</a:t>
            </a:r>
            <a:endParaRPr lang="en-US" sz="950" dirty="0"/>
          </a:p>
        </p:txBody>
      </p:sp>
      <p:sp>
        <p:nvSpPr>
          <p:cNvPr id="9" name="Shape 5"/>
          <p:cNvSpPr/>
          <p:nvPr/>
        </p:nvSpPr>
        <p:spPr>
          <a:xfrm>
            <a:off x="6126480" y="914400"/>
            <a:ext cx="2560320" cy="3611880"/>
          </a:xfrm>
          <a:prstGeom prst="roundRect">
            <a:avLst>
              <a:gd name="adj" fmla="val 2857"/>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0" name="Text 6"/>
          <p:cNvSpPr txBox="1"/>
          <p:nvPr/>
        </p:nvSpPr>
        <p:spPr>
          <a:xfrm>
            <a:off x="6263640" y="1005840"/>
            <a:ext cx="2286000" cy="274320"/>
          </a:xfrm>
          <a:prstGeom prst="rect">
            <a:avLst/>
          </a:prstGeom>
          <a:noFill/>
          <a:ln/>
        </p:spPr>
        <p:txBody>
          <a:bodyPr wrap="square" lIns="0" tIns="0" rIns="0" bIns="0" rtlCol="0" anchor="t"/>
          <a:lstStyle/>
          <a:p>
            <a:pPr marL="0" indent="0">
              <a:buNone/>
            </a:pPr>
            <a:r>
              <a:rPr lang="en-US" sz="1300" b="1" dirty="0">
                <a:solidFill>
                  <a:srgbClr val="D17C35"/>
                </a:solidFill>
                <a:latin typeface="Calibri" pitchFamily="34" charset="0"/>
                <a:ea typeface="Calibri" pitchFamily="34" charset="-122"/>
                <a:cs typeface="Calibri" pitchFamily="34" charset="-120"/>
              </a:rPr>
              <a:t>Settings and why</a:t>
            </a:r>
            <a:endParaRPr lang="en-US" sz="1300" dirty="0"/>
          </a:p>
        </p:txBody>
      </p:sp>
      <p:sp>
        <p:nvSpPr>
          <p:cNvPr id="11" name="Text 7"/>
          <p:cNvSpPr txBox="1"/>
          <p:nvPr/>
        </p:nvSpPr>
        <p:spPr>
          <a:xfrm>
            <a:off x="6263640" y="1325880"/>
            <a:ext cx="2331720" cy="2011680"/>
          </a:xfrm>
          <a:prstGeom prst="rect">
            <a:avLst/>
          </a:prstGeom>
          <a:noFill/>
          <a:ln/>
        </p:spPr>
        <p:txBody>
          <a:bodyPr wrap="square" lIns="0" tIns="0" rIns="0" bIns="0" rtlCol="0" anchor="t"/>
          <a:lstStyle/>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Hill climbing: </a:t>
            </a:r>
            <a:r>
              <a:rPr lang="en-US" sz="1050" dirty="0">
                <a:solidFill>
                  <a:srgbClr val="263238"/>
                </a:solidFill>
                <a:latin typeface="Calibri" pitchFamily="34" charset="0"/>
                <a:ea typeface="Calibri" pitchFamily="34" charset="-122"/>
                <a:cs typeface="Calibri" pitchFamily="34" charset="-120"/>
              </a:rPr>
              <a:t>greedy add/remove/reverse of arrows</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BIC score: </a:t>
            </a:r>
            <a:r>
              <a:rPr lang="en-US" sz="1050" dirty="0">
                <a:solidFill>
                  <a:srgbClr val="263238"/>
                </a:solidFill>
                <a:latin typeface="Calibri" pitchFamily="34" charset="0"/>
                <a:ea typeface="Calibri" pitchFamily="34" charset="-122"/>
                <a:cs typeface="Calibri" pitchFamily="34" charset="-120"/>
              </a:rPr>
              <a:t>rewards fit, penalises parameters (n = 242)</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Empty start, no constraints: </a:t>
            </a:r>
            <a:r>
              <a:rPr lang="en-US" sz="1050" dirty="0">
                <a:solidFill>
                  <a:srgbClr val="263238"/>
                </a:solidFill>
                <a:latin typeface="Calibri" pitchFamily="34" charset="0"/>
                <a:ea typeface="Calibri" pitchFamily="34" charset="-122"/>
                <a:cs typeface="Calibri" pitchFamily="34" charset="-120"/>
              </a:rPr>
              <a:t>the data alone decide</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Tabu 100, tol 1e-4, 10,000 iters: </a:t>
            </a:r>
            <a:r>
              <a:rPr lang="en-US" sz="1050" dirty="0">
                <a:solidFill>
                  <a:srgbClr val="263238"/>
                </a:solidFill>
                <a:latin typeface="Calibri" pitchFamily="34" charset="0"/>
                <a:ea typeface="Calibri" pitchFamily="34" charset="-122"/>
                <a:cs typeface="Calibri" pitchFamily="34" charset="-120"/>
              </a:rPr>
              <a:t>inspectable limits</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Training data only: </a:t>
            </a:r>
            <a:r>
              <a:rPr lang="en-US" sz="1050" dirty="0">
                <a:solidFill>
                  <a:srgbClr val="263238"/>
                </a:solidFill>
                <a:latin typeface="Calibri" pitchFamily="34" charset="0"/>
                <a:ea typeface="Calibri" pitchFamily="34" charset="-122"/>
                <a:cs typeface="Calibri" pitchFamily="34" charset="-120"/>
              </a:rPr>
              <a:t>test labels never used</a:t>
            </a:r>
            <a:endParaRPr lang="en-US" sz="1050" dirty="0"/>
          </a:p>
        </p:txBody>
      </p:sp>
      <p:sp>
        <p:nvSpPr>
          <p:cNvPr id="12" name="Text 8"/>
          <p:cNvSpPr txBox="1"/>
          <p:nvPr/>
        </p:nvSpPr>
        <p:spPr>
          <a:xfrm>
            <a:off x="6263640" y="3703320"/>
            <a:ext cx="2331720" cy="731520"/>
          </a:xfrm>
          <a:prstGeom prst="rect">
            <a:avLst/>
          </a:prstGeom>
          <a:noFill/>
          <a:ln/>
        </p:spPr>
        <p:txBody>
          <a:bodyPr wrap="square" lIns="0" tIns="0" rIns="0" bIns="0" rtlCol="0" anchor="t"/>
          <a:lstStyle/>
          <a:p>
            <a:pPr marL="0" indent="0">
              <a:buNone/>
            </a:pPr>
            <a:r>
              <a:rPr lang="en-US" sz="1150" b="1" dirty="0">
                <a:solidFill>
                  <a:srgbClr val="16324F"/>
                </a:solidFill>
                <a:latin typeface="Calibri" pitchFamily="34" charset="0"/>
                <a:ea typeface="Calibri" pitchFamily="34" charset="-122"/>
                <a:cs typeface="Calibri" pitchFamily="34" charset="-120"/>
              </a:rPr>
              <a:t>Result: target Markov blanket = cp, thal, ca</a:t>
            </a:r>
            <a:endParaRPr lang="en-US" sz="1150" dirty="0"/>
          </a:p>
        </p:txBody>
      </p:sp>
      <p:sp>
        <p:nvSpPr>
          <p:cNvPr id="15" name="TextBox 14">
            <a:extLst>
              <a:ext uri="{FF2B5EF4-FFF2-40B4-BE49-F238E27FC236}">
                <a16:creationId xmlns:a16="http://schemas.microsoft.com/office/drawing/2014/main" id="{D0B479FA-636D-D6C5-2F2E-B6F437BB6AEB}"/>
              </a:ext>
            </a:extLst>
          </p:cNvPr>
          <p:cNvSpPr txBox="1"/>
          <p:nvPr/>
        </p:nvSpPr>
        <p:spPr>
          <a:xfrm>
            <a:off x="1428750" y="2007372"/>
            <a:ext cx="1385888" cy="300082"/>
          </a:xfrm>
          <a:prstGeom prst="rect">
            <a:avLst/>
          </a:prstGeom>
          <a:noFill/>
        </p:spPr>
        <p:txBody>
          <a:bodyPr wrap="square">
            <a:spAutoFit/>
          </a:bodyPr>
          <a:lstStyle/>
          <a:p>
            <a:pPr>
              <a:defRPr sz="1350" b="0">
                <a:solidFill>
                  <a:srgbClr val="526774"/>
                </a:solidFill>
                <a:latin typeface="Helvetica Neue"/>
                <a:ea typeface="Helvetica Neue"/>
                <a:cs typeface="Helvetica Neue"/>
              </a:defRPr>
            </a:pPr>
            <a:r>
              <a:rPr lang="en-ZA" sz="1350" b="0" dirty="0">
                <a:solidFill>
                  <a:srgbClr val="526774"/>
                </a:solidFill>
                <a:latin typeface="Helvetica Neue"/>
                <a:ea typeface="Helvetica Neue"/>
                <a:cs typeface="Helvetica Neue"/>
              </a:rPr>
              <a:t>Isolated nodes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Comparing the Expert and Learned DAGs</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960120"/>
            <a:ext cx="1874520" cy="1005840"/>
          </a:xfrm>
          <a:prstGeom prst="roundRect">
            <a:avLst>
              <a:gd name="adj" fmla="val 7273"/>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7" name="Text 4"/>
          <p:cNvSpPr txBox="1"/>
          <p:nvPr/>
        </p:nvSpPr>
        <p:spPr>
          <a:xfrm>
            <a:off x="548640" y="1051560"/>
            <a:ext cx="1691640" cy="502920"/>
          </a:xfrm>
          <a:prstGeom prst="rect">
            <a:avLst/>
          </a:prstGeom>
          <a:noFill/>
          <a:ln/>
        </p:spPr>
        <p:txBody>
          <a:bodyPr wrap="square" lIns="0" tIns="0" rIns="0" bIns="0" rtlCol="0" anchor="ctr"/>
          <a:lstStyle/>
          <a:p>
            <a:pPr marL="0" indent="0" algn="ctr">
              <a:buNone/>
            </a:pPr>
            <a:r>
              <a:rPr lang="en-US" sz="3000" b="1" dirty="0">
                <a:solidFill>
                  <a:srgbClr val="2E8B57"/>
                </a:solidFill>
                <a:latin typeface="Cambria" pitchFamily="34" charset="0"/>
                <a:ea typeface="Cambria" pitchFamily="34" charset="-122"/>
                <a:cs typeface="Cambria" pitchFamily="34" charset="-120"/>
              </a:rPr>
              <a:t>5</a:t>
            </a:r>
            <a:endParaRPr lang="en-US" sz="3000" dirty="0"/>
          </a:p>
        </p:txBody>
      </p:sp>
      <p:sp>
        <p:nvSpPr>
          <p:cNvPr id="8" name="Text 5"/>
          <p:cNvSpPr txBox="1"/>
          <p:nvPr/>
        </p:nvSpPr>
        <p:spPr>
          <a:xfrm>
            <a:off x="566928" y="1543507"/>
            <a:ext cx="1655064" cy="382219"/>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common edges</a:t>
            </a:r>
            <a:endParaRPr lang="en-US" sz="1100" dirty="0"/>
          </a:p>
        </p:txBody>
      </p:sp>
      <p:sp>
        <p:nvSpPr>
          <p:cNvPr id="9" name="Shape 6"/>
          <p:cNvSpPr/>
          <p:nvPr/>
        </p:nvSpPr>
        <p:spPr>
          <a:xfrm>
            <a:off x="2423160" y="960120"/>
            <a:ext cx="1874520" cy="1005840"/>
          </a:xfrm>
          <a:prstGeom prst="roundRect">
            <a:avLst>
              <a:gd name="adj" fmla="val 7273"/>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0" name="Text 7"/>
          <p:cNvSpPr txBox="1"/>
          <p:nvPr/>
        </p:nvSpPr>
        <p:spPr>
          <a:xfrm>
            <a:off x="2514600" y="1051560"/>
            <a:ext cx="1691640" cy="502920"/>
          </a:xfrm>
          <a:prstGeom prst="rect">
            <a:avLst/>
          </a:prstGeom>
          <a:noFill/>
          <a:ln/>
        </p:spPr>
        <p:txBody>
          <a:bodyPr wrap="square" lIns="0" tIns="0" rIns="0" bIns="0" rtlCol="0" anchor="ctr"/>
          <a:lstStyle/>
          <a:p>
            <a:pPr marL="0" indent="0" algn="ctr">
              <a:buNone/>
            </a:pPr>
            <a:r>
              <a:rPr lang="en-US" sz="3000" b="1" dirty="0">
                <a:solidFill>
                  <a:srgbClr val="D17C35"/>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2532888" y="1543507"/>
            <a:ext cx="1655064" cy="382219"/>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reversed pairs</a:t>
            </a:r>
            <a:endParaRPr lang="en-US" sz="1100" dirty="0"/>
          </a:p>
        </p:txBody>
      </p:sp>
      <p:sp>
        <p:nvSpPr>
          <p:cNvPr id="12" name="Shape 9"/>
          <p:cNvSpPr/>
          <p:nvPr/>
        </p:nvSpPr>
        <p:spPr>
          <a:xfrm>
            <a:off x="4389120" y="960120"/>
            <a:ext cx="1874520" cy="1005840"/>
          </a:xfrm>
          <a:prstGeom prst="roundRect">
            <a:avLst>
              <a:gd name="adj" fmla="val 7273"/>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3" name="Text 10"/>
          <p:cNvSpPr txBox="1"/>
          <p:nvPr/>
        </p:nvSpPr>
        <p:spPr>
          <a:xfrm>
            <a:off x="4480560" y="1051560"/>
            <a:ext cx="1691640" cy="502920"/>
          </a:xfrm>
          <a:prstGeom prst="rect">
            <a:avLst/>
          </a:prstGeom>
          <a:noFill/>
          <a:ln/>
        </p:spPr>
        <p:txBody>
          <a:bodyPr wrap="square" lIns="0" tIns="0" rIns="0" bIns="0" rtlCol="0" anchor="ctr"/>
          <a:lstStyle/>
          <a:p>
            <a:pPr marL="0" indent="0" algn="ctr">
              <a:buNone/>
            </a:pPr>
            <a:r>
              <a:rPr lang="en-US" sz="3000" b="1" dirty="0">
                <a:solidFill>
                  <a:srgbClr val="2F6B9A"/>
                </a:solidFill>
                <a:latin typeface="Cambria" pitchFamily="34" charset="0"/>
                <a:ea typeface="Cambria" pitchFamily="34" charset="-122"/>
                <a:cs typeface="Cambria" pitchFamily="34" charset="-120"/>
              </a:rPr>
              <a:t>14</a:t>
            </a:r>
            <a:endParaRPr lang="en-US" sz="3000" dirty="0"/>
          </a:p>
        </p:txBody>
      </p:sp>
      <p:sp>
        <p:nvSpPr>
          <p:cNvPr id="14" name="Text 11"/>
          <p:cNvSpPr txBox="1"/>
          <p:nvPr/>
        </p:nvSpPr>
        <p:spPr>
          <a:xfrm>
            <a:off x="4498848" y="1543507"/>
            <a:ext cx="1655064" cy="382219"/>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expert only</a:t>
            </a:r>
            <a:endParaRPr lang="en-US" sz="1100" dirty="0"/>
          </a:p>
        </p:txBody>
      </p:sp>
      <p:sp>
        <p:nvSpPr>
          <p:cNvPr id="15" name="Shape 12"/>
          <p:cNvSpPr/>
          <p:nvPr/>
        </p:nvSpPr>
        <p:spPr>
          <a:xfrm>
            <a:off x="6355080" y="960120"/>
            <a:ext cx="2331720" cy="1005840"/>
          </a:xfrm>
          <a:prstGeom prst="roundRect">
            <a:avLst>
              <a:gd name="adj" fmla="val 7273"/>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6" name="Text 13"/>
          <p:cNvSpPr txBox="1"/>
          <p:nvPr/>
        </p:nvSpPr>
        <p:spPr>
          <a:xfrm>
            <a:off x="6446520" y="1051560"/>
            <a:ext cx="2148840" cy="502920"/>
          </a:xfrm>
          <a:prstGeom prst="rect">
            <a:avLst/>
          </a:prstGeom>
          <a:noFill/>
          <a:ln/>
        </p:spPr>
        <p:txBody>
          <a:bodyPr wrap="square" lIns="0" tIns="0" rIns="0" bIns="0" rtlCol="0" anchor="ctr"/>
          <a:lstStyle/>
          <a:p>
            <a:pPr marL="0" indent="0" algn="ctr">
              <a:buNone/>
            </a:pPr>
            <a:r>
              <a:rPr lang="en-US" sz="3000" b="1" dirty="0">
                <a:solidFill>
                  <a:srgbClr val="16324F"/>
                </a:solidFill>
                <a:latin typeface="Cambria" pitchFamily="34" charset="0"/>
                <a:ea typeface="Cambria" pitchFamily="34" charset="-122"/>
                <a:cs typeface="Cambria" pitchFamily="34" charset="-120"/>
              </a:rPr>
              <a:t>4</a:t>
            </a:r>
            <a:endParaRPr lang="en-US" sz="3000" dirty="0"/>
          </a:p>
        </p:txBody>
      </p:sp>
      <p:sp>
        <p:nvSpPr>
          <p:cNvPr id="17" name="Text 14"/>
          <p:cNvSpPr txBox="1"/>
          <p:nvPr/>
        </p:nvSpPr>
        <p:spPr>
          <a:xfrm>
            <a:off x="6464808" y="1543507"/>
            <a:ext cx="2112264" cy="382219"/>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learned only</a:t>
            </a:r>
            <a:endParaRPr lang="en-US" sz="1100" dirty="0"/>
          </a:p>
        </p:txBody>
      </p:sp>
      <p:sp>
        <p:nvSpPr>
          <p:cNvPr id="18" name="Shape 15"/>
          <p:cNvSpPr/>
          <p:nvPr/>
        </p:nvSpPr>
        <p:spPr>
          <a:xfrm>
            <a:off x="457200" y="2103120"/>
            <a:ext cx="4023360" cy="2514600"/>
          </a:xfrm>
          <a:prstGeom prst="roundRect">
            <a:avLst>
              <a:gd name="adj" fmla="val 290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9" name="Text 16"/>
          <p:cNvSpPr txBox="1"/>
          <p:nvPr/>
        </p:nvSpPr>
        <p:spPr>
          <a:xfrm>
            <a:off x="640080" y="2194560"/>
            <a:ext cx="3657600" cy="274320"/>
          </a:xfrm>
          <a:prstGeom prst="rect">
            <a:avLst/>
          </a:prstGeom>
          <a:noFill/>
          <a:ln/>
        </p:spPr>
        <p:txBody>
          <a:bodyPr wrap="square" lIns="0" tIns="0" rIns="0" bIns="0" rtlCol="0" anchor="t"/>
          <a:lstStyle/>
          <a:p>
            <a:pPr marL="0" indent="0">
              <a:buNone/>
            </a:pPr>
            <a:r>
              <a:rPr lang="en-US" sz="1300" b="1" dirty="0">
                <a:solidFill>
                  <a:srgbClr val="16324F"/>
                </a:solidFill>
                <a:latin typeface="Calibri" pitchFamily="34" charset="0"/>
                <a:ea typeface="Calibri" pitchFamily="34" charset="-122"/>
                <a:cs typeface="Calibri" pitchFamily="34" charset="-120"/>
              </a:rPr>
              <a:t>What the graphs share and differ on</a:t>
            </a:r>
            <a:endParaRPr lang="en-US" sz="1300" dirty="0"/>
          </a:p>
        </p:txBody>
      </p:sp>
      <p:sp>
        <p:nvSpPr>
          <p:cNvPr id="20" name="Text 17"/>
          <p:cNvSpPr txBox="1"/>
          <p:nvPr/>
        </p:nvSpPr>
        <p:spPr>
          <a:xfrm>
            <a:off x="640080" y="2514600"/>
            <a:ext cx="3703320" cy="2057400"/>
          </a:xfrm>
          <a:prstGeom prst="rect">
            <a:avLst/>
          </a:prstGeom>
          <a:noFill/>
          <a:ln/>
        </p:spPr>
        <p:txBody>
          <a:bodyPr wrap="square" lIns="0" tIns="0" rIns="0" bIns="0" rtlCol="0" anchor="t"/>
          <a:lstStyle/>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Common: </a:t>
            </a:r>
            <a:r>
              <a:rPr lang="en-US" sz="1050" dirty="0">
                <a:solidFill>
                  <a:srgbClr val="263238"/>
                </a:solidFill>
                <a:latin typeface="Calibri" pitchFamily="34" charset="0"/>
                <a:ea typeface="Calibri" pitchFamily="34" charset="-122"/>
                <a:cs typeface="Calibri" pitchFamily="34" charset="-120"/>
              </a:rPr>
              <a:t>age to fbs, cp to exang, disease to ca, cp, thal</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Reversed: </a:t>
            </a:r>
            <a:r>
              <a:rPr lang="en-US" sz="1050" dirty="0">
                <a:solidFill>
                  <a:srgbClr val="263238"/>
                </a:solidFill>
                <a:latin typeface="Calibri" pitchFamily="34" charset="0"/>
                <a:ea typeface="Calibri" pitchFamily="34" charset="-122"/>
                <a:cs typeface="Calibri" pitchFamily="34" charset="-120"/>
              </a:rPr>
              <a:t>age/thalach and oldpeak/slope (direction is arbitrary for related measures)</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Expert only: </a:t>
            </a:r>
            <a:r>
              <a:rPr lang="en-US" sz="1050" dirty="0">
                <a:solidFill>
                  <a:srgbClr val="263238"/>
                </a:solidFill>
                <a:latin typeface="Calibri" pitchFamily="34" charset="0"/>
                <a:ea typeface="Calibri" pitchFamily="34" charset="-122"/>
                <a:cs typeface="Calibri" pitchFamily="34" charset="-120"/>
              </a:rPr>
              <a:t>age, sex, BP, chol, fbs into disease; disease to exang, oldpeak, slope, thalach, restecg</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Learned only: </a:t>
            </a:r>
            <a:r>
              <a:rPr lang="en-US" sz="1050" dirty="0">
                <a:solidFill>
                  <a:srgbClr val="263238"/>
                </a:solidFill>
                <a:latin typeface="Calibri" pitchFamily="34" charset="0"/>
                <a:ea typeface="Calibri" pitchFamily="34" charset="-122"/>
                <a:cs typeface="Calibri" pitchFamily="34" charset="-120"/>
              </a:rPr>
              <a:t>exang to thalach, fbs to trestbps, thal to sex, thalach to slope</a:t>
            </a:r>
            <a:endParaRPr lang="en-US" sz="1050" dirty="0"/>
          </a:p>
        </p:txBody>
      </p:sp>
      <p:sp>
        <p:nvSpPr>
          <p:cNvPr id="21" name="Shape 18"/>
          <p:cNvSpPr/>
          <p:nvPr/>
        </p:nvSpPr>
        <p:spPr>
          <a:xfrm>
            <a:off x="4663440" y="2103120"/>
            <a:ext cx="4023360" cy="2514600"/>
          </a:xfrm>
          <a:prstGeom prst="roundRect">
            <a:avLst>
              <a:gd name="adj" fmla="val 290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22" name="Text 19"/>
          <p:cNvSpPr txBox="1"/>
          <p:nvPr/>
        </p:nvSpPr>
        <p:spPr>
          <a:xfrm>
            <a:off x="4846320" y="2194560"/>
            <a:ext cx="3657600" cy="274320"/>
          </a:xfrm>
          <a:prstGeom prst="rect">
            <a:avLst/>
          </a:prstGeom>
          <a:noFill/>
          <a:ln/>
        </p:spPr>
        <p:txBody>
          <a:bodyPr wrap="square" lIns="0" tIns="0" rIns="0" bIns="0" rtlCol="0" anchor="t"/>
          <a:lstStyle/>
          <a:p>
            <a:pPr marL="0" indent="0">
              <a:buNone/>
            </a:pPr>
            <a:r>
              <a:rPr lang="en-US" sz="1300" b="1" dirty="0">
                <a:solidFill>
                  <a:srgbClr val="D17C35"/>
                </a:solidFill>
                <a:latin typeface="Calibri" pitchFamily="34" charset="0"/>
                <a:ea typeface="Calibri" pitchFamily="34" charset="-122"/>
                <a:cs typeface="Calibri" pitchFamily="34" charset="-120"/>
              </a:rPr>
              <a:t>Strange relationships and blankets</a:t>
            </a:r>
            <a:endParaRPr lang="en-US" sz="1300" dirty="0"/>
          </a:p>
        </p:txBody>
      </p:sp>
      <p:sp>
        <p:nvSpPr>
          <p:cNvPr id="23" name="Text 20"/>
          <p:cNvSpPr txBox="1"/>
          <p:nvPr/>
        </p:nvSpPr>
        <p:spPr>
          <a:xfrm>
            <a:off x="4846320" y="2514600"/>
            <a:ext cx="3703320" cy="2057400"/>
          </a:xfrm>
          <a:prstGeom prst="rect">
            <a:avLst/>
          </a:prstGeom>
          <a:noFill/>
          <a:ln/>
        </p:spPr>
        <p:txBody>
          <a:bodyPr wrap="square" lIns="0" tIns="0" rIns="0" bIns="0" rtlCol="0" anchor="t"/>
          <a:lstStyle/>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thal to sex, thalach to age: </a:t>
            </a:r>
            <a:r>
              <a:rPr lang="en-US" sz="1050" dirty="0">
                <a:solidFill>
                  <a:srgbClr val="263238"/>
                </a:solidFill>
                <a:latin typeface="Calibri" pitchFamily="34" charset="0"/>
                <a:ea typeface="Calibri" pitchFamily="34" charset="-122"/>
                <a:cs typeface="Calibri" pitchFamily="34" charset="-120"/>
              </a:rPr>
              <a:t>tests cannot cause age or sex; these are statistical factorisations only</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Markov blanket: </a:t>
            </a:r>
            <a:r>
              <a:rPr lang="en-US" sz="1050" dirty="0">
                <a:solidFill>
                  <a:srgbClr val="263238"/>
                </a:solidFill>
                <a:latin typeface="Calibri" pitchFamily="34" charset="0"/>
                <a:ea typeface="Calibri" pitchFamily="34" charset="-122"/>
                <a:cs typeface="Calibri" pitchFamily="34" charset="-120"/>
              </a:rPr>
              <a:t>13 variables (expert) vs 3 (learned)</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Implication: </a:t>
            </a:r>
            <a:r>
              <a:rPr lang="en-US" sz="1050" dirty="0">
                <a:solidFill>
                  <a:srgbClr val="263238"/>
                </a:solidFill>
                <a:latin typeface="Calibri" pitchFamily="34" charset="0"/>
                <a:ea typeface="Calibri" pitchFamily="34" charset="-122"/>
                <a:cs typeface="Calibri" pitchFamily="34" charset="-120"/>
              </a:rPr>
              <a:t>learned model ignores nine predictors once cp, thal, ca are known, so many profiles tie</a:t>
            </a:r>
            <a:endParaRPr lang="en-US" sz="1050" dirty="0"/>
          </a:p>
          <a:p>
            <a:pPr marL="342900" indent="-342900">
              <a:spcAft>
                <a:spcPts val="500"/>
              </a:spcAft>
              <a:buSzPct val="100000"/>
              <a:buChar char="•"/>
            </a:pPr>
            <a:r>
              <a:rPr lang="en-US" sz="1050" b="1" dirty="0">
                <a:solidFill>
                  <a:srgbClr val="263238"/>
                </a:solidFill>
                <a:latin typeface="Calibri" pitchFamily="34" charset="0"/>
                <a:ea typeface="Calibri" pitchFamily="34" charset="-122"/>
                <a:cs typeface="Calibri" pitchFamily="34" charset="-120"/>
              </a:rPr>
              <a:t>Isolated nodes: </a:t>
            </a:r>
            <a:r>
              <a:rPr lang="en-US" sz="1050" dirty="0">
                <a:solidFill>
                  <a:srgbClr val="263238"/>
                </a:solidFill>
                <a:latin typeface="Calibri" pitchFamily="34" charset="0"/>
                <a:ea typeface="Calibri" pitchFamily="34" charset="-122"/>
                <a:cs typeface="Calibri" pitchFamily="34" charset="-120"/>
              </a:rPr>
              <a:t>chol and restecg have no learned arrows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Parameter Learning: CPTs for Both Networks</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457200" y="960120"/>
            <a:ext cx="3840480" cy="3611880"/>
          </a:xfrm>
          <a:prstGeom prst="roundRect">
            <a:avLst>
              <a:gd name="adj" fmla="val 2025"/>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7" name="Text 4"/>
          <p:cNvSpPr txBox="1"/>
          <p:nvPr/>
        </p:nvSpPr>
        <p:spPr>
          <a:xfrm>
            <a:off x="640080" y="1051560"/>
            <a:ext cx="3474720" cy="274320"/>
          </a:xfrm>
          <a:prstGeom prst="rect">
            <a:avLst/>
          </a:prstGeom>
          <a:noFill/>
          <a:ln/>
        </p:spPr>
        <p:txBody>
          <a:bodyPr wrap="square" lIns="0" tIns="0" rIns="0" bIns="0" rtlCol="0" anchor="t"/>
          <a:lstStyle/>
          <a:p>
            <a:pPr marL="0" indent="0">
              <a:buNone/>
            </a:pPr>
            <a:r>
              <a:rPr lang="en-US" sz="1300" b="1" dirty="0">
                <a:solidFill>
                  <a:srgbClr val="16324F"/>
                </a:solidFill>
                <a:latin typeface="Calibri" pitchFamily="34" charset="0"/>
                <a:ea typeface="Calibri" pitchFamily="34" charset="-122"/>
                <a:cs typeface="Calibri" pitchFamily="34" charset="-120"/>
              </a:rPr>
              <a:t>How the CPTs were estimated</a:t>
            </a:r>
            <a:endParaRPr lang="en-US" sz="1300" dirty="0"/>
          </a:p>
        </p:txBody>
      </p:sp>
      <p:sp>
        <p:nvSpPr>
          <p:cNvPr id="8" name="Text 5"/>
          <p:cNvSpPr txBox="1"/>
          <p:nvPr/>
        </p:nvSpPr>
        <p:spPr>
          <a:xfrm>
            <a:off x="640080" y="1371600"/>
            <a:ext cx="3520440" cy="3108960"/>
          </a:xfrm>
          <a:prstGeom prst="rect">
            <a:avLst/>
          </a:prstGeom>
          <a:noFill/>
          <a:ln/>
        </p:spPr>
        <p:txBody>
          <a:bodyPr wrap="square" lIns="0" tIns="0" rIns="0" bIns="0" rtlCol="0" anchor="t"/>
          <a:lstStyle/>
          <a:p>
            <a:pPr marL="342900" indent="-342900">
              <a:spcAft>
                <a:spcPts val="500"/>
              </a:spcAft>
              <a:buSzPct val="100000"/>
              <a:buChar char="•"/>
            </a:pPr>
            <a:r>
              <a:rPr lang="en-US" sz="1100" b="1" dirty="0">
                <a:solidFill>
                  <a:srgbClr val="263238"/>
                </a:solidFill>
                <a:latin typeface="Calibri" pitchFamily="34" charset="0"/>
                <a:ea typeface="Calibri" pitchFamily="34" charset="-122"/>
                <a:cs typeface="Calibri" pitchFamily="34" charset="-120"/>
              </a:rPr>
              <a:t>BDeu prior: </a:t>
            </a:r>
            <a:r>
              <a:rPr lang="en-US" sz="1100" dirty="0">
                <a:solidFill>
                  <a:srgbClr val="263238"/>
                </a:solidFill>
                <a:latin typeface="Calibri" pitchFamily="34" charset="0"/>
                <a:ea typeface="Calibri" pitchFamily="34" charset="-122"/>
                <a:cs typeface="Calibri" pitchFamily="34" charset="-120"/>
              </a:rPr>
              <a:t>uniform Dirichlet, ESS = 5 spread across each CPT</a:t>
            </a:r>
            <a:endParaRPr lang="en-US" sz="1100" dirty="0"/>
          </a:p>
          <a:p>
            <a:pPr marL="342900" indent="-342900">
              <a:spcAft>
                <a:spcPts val="500"/>
              </a:spcAft>
              <a:buSzPct val="100000"/>
              <a:buChar char="•"/>
            </a:pPr>
            <a:r>
              <a:rPr lang="en-US" sz="1100" b="1" dirty="0">
                <a:solidFill>
                  <a:srgbClr val="263238"/>
                </a:solidFill>
                <a:latin typeface="Calibri" pitchFamily="34" charset="0"/>
                <a:ea typeface="Calibri" pitchFamily="34" charset="-122"/>
                <a:cs typeface="Calibri" pitchFamily="34" charset="-120"/>
              </a:rPr>
              <a:t>Unseen parent sets </a:t>
            </a:r>
            <a:r>
              <a:rPr lang="en-US" sz="1100" dirty="0">
                <a:solidFill>
                  <a:srgbClr val="263238"/>
                </a:solidFill>
                <a:latin typeface="Calibri" pitchFamily="34" charset="0"/>
                <a:ea typeface="Calibri" pitchFamily="34" charset="-122"/>
                <a:cs typeface="Calibri" pitchFamily="34" charset="-120"/>
              </a:rPr>
              <a:t>get a uniform distribution, an assumption not evidence</a:t>
            </a:r>
            <a:endParaRPr lang="en-US" sz="1100" dirty="0"/>
          </a:p>
          <a:p>
            <a:pPr marL="342900" indent="-342900">
              <a:spcAft>
                <a:spcPts val="500"/>
              </a:spcAft>
              <a:buSzPct val="100000"/>
              <a:buChar char="•"/>
            </a:pPr>
            <a:r>
              <a:rPr lang="en-US" sz="1100" b="1" dirty="0">
                <a:solidFill>
                  <a:srgbClr val="263238"/>
                </a:solidFill>
                <a:latin typeface="Calibri" pitchFamily="34" charset="0"/>
                <a:ea typeface="Calibri" pitchFamily="34" charset="-122"/>
                <a:cs typeface="Calibri" pitchFamily="34" charset="-120"/>
              </a:rPr>
              <a:t>All 14 nodes </a:t>
            </a:r>
            <a:r>
              <a:rPr lang="en-US" sz="1100" dirty="0">
                <a:solidFill>
                  <a:srgbClr val="263238"/>
                </a:solidFill>
                <a:latin typeface="Calibri" pitchFamily="34" charset="0"/>
                <a:ea typeface="Calibri" pitchFamily="34" charset="-122"/>
                <a:cs typeface="Calibri" pitchFamily="34" charset="-120"/>
              </a:rPr>
              <a:t>per network keep a CPT (isolated nodes included)</a:t>
            </a:r>
            <a:endParaRPr lang="en-US" sz="1100" dirty="0"/>
          </a:p>
          <a:p>
            <a:pPr marL="342900" indent="-342900">
              <a:spcAft>
                <a:spcPts val="500"/>
              </a:spcAft>
              <a:buSzPct val="100000"/>
              <a:buChar char="•"/>
            </a:pPr>
            <a:r>
              <a:rPr lang="en-US" sz="1100" b="1" dirty="0">
                <a:solidFill>
                  <a:srgbClr val="263238"/>
                </a:solidFill>
                <a:latin typeface="Calibri" pitchFamily="34" charset="0"/>
                <a:ea typeface="Calibri" pitchFamily="34" charset="-122"/>
                <a:cs typeface="Calibri" pitchFamily="34" charset="-120"/>
              </a:rPr>
              <a:t>Validated: </a:t>
            </a:r>
            <a:r>
              <a:rPr lang="en-US" sz="1100" dirty="0">
                <a:solidFill>
                  <a:srgbClr val="263238"/>
                </a:solidFill>
                <a:latin typeface="Calibri" pitchFamily="34" charset="0"/>
                <a:ea typeface="Calibri" pitchFamily="34" charset="-122"/>
                <a:cs typeface="Calibri" pitchFamily="34" charset="-120"/>
              </a:rPr>
              <a:t>columns sum to 1, probabilities positive and finite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26280" y="960120"/>
          <a:ext cx="4160520" cy="2304288"/>
        </p:xfrm>
        <a:graphic>
          <a:graphicData uri="http://schemas.openxmlformats.org/drawingml/2006/table">
            <a:tbl>
              <a:tblPr/>
              <a:tblGrid>
                <a:gridCol w="21031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Complexity</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Expert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Learned</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Edges</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Free parameters</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194</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Target parent configs</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Configs never observed</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Configs with n &lt; 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93</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6"/>
          <p:cNvSpPr txBox="1"/>
          <p:nvPr/>
        </p:nvSpPr>
        <p:spPr>
          <a:xfrm>
            <a:off x="4526280" y="3429000"/>
            <a:ext cx="4160520" cy="822960"/>
          </a:xfrm>
          <a:prstGeom prst="rect">
            <a:avLst/>
          </a:prstGeom>
          <a:noFill/>
          <a:ln/>
        </p:spPr>
        <p:txBody>
          <a:bodyPr wrap="square" lIns="0" tIns="0" rIns="0" bIns="0" rtlCol="0" anchor="t"/>
          <a:lstStyle/>
          <a:p>
            <a:pPr marL="0" indent="0">
              <a:buNone/>
            </a:pPr>
            <a:r>
              <a:rPr lang="en-US" sz="1150" b="1" dirty="0">
                <a:solidFill>
                  <a:srgbClr val="16324F"/>
                </a:solidFill>
                <a:latin typeface="Calibri" pitchFamily="34" charset="0"/>
                <a:ea typeface="Calibri" pitchFamily="34" charset="-122"/>
                <a:cs typeface="Calibri" pitchFamily="34" charset="-120"/>
              </a:rPr>
              <a:t>The expert target CPT is large and sparse; the learned target is a single prior row (46.0% disease, n = 242).</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Target CPT: Five Informative Patterns</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2304288"/>
        </p:xfrm>
        <a:graphic>
          <a:graphicData uri="http://schemas.openxmlformats.org/drawingml/2006/table">
            <a:tbl>
              <a:tblPr/>
              <a:tblGrid>
                <a:gridCol w="3657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Expert parent configuration (sex, fbs, age, BP, chol)</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P(disease)</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vs 45.9%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Male, fbs 0, age High, BP High, chol High</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99.5%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+53.7 pp</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Male, fbs 0, age High, BP Low, chol Medium</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99.5%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+53.7 pp</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Male, fbs 0, age Medium, BP High, chol High</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88.7%</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+42.8 pp</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Male, fbs 0, age Low, BP Medium, chol Low</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-45.5 pp</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Female, fbs 0, age Low, BP Low, chol Low</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-45.6 pp</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3"/>
          <p:cNvSpPr/>
          <p:nvPr/>
        </p:nvSpPr>
        <p:spPr>
          <a:xfrm>
            <a:off x="457200" y="3429000"/>
            <a:ext cx="3977640" cy="1188720"/>
          </a:xfrm>
          <a:prstGeom prst="roundRect">
            <a:avLst>
              <a:gd name="adj" fmla="val 615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8" name="Text 4"/>
          <p:cNvSpPr txBox="1"/>
          <p:nvPr/>
        </p:nvSpPr>
        <p:spPr>
          <a:xfrm>
            <a:off x="640080" y="3493008"/>
            <a:ext cx="3657600" cy="274320"/>
          </a:xfrm>
          <a:prstGeom prst="rect">
            <a:avLst/>
          </a:prstGeom>
          <a:noFill/>
          <a:ln/>
        </p:spPr>
        <p:txBody>
          <a:bodyPr wrap="square" lIns="0" tIns="0" rIns="0" bIns="0" rtlCol="0" anchor="t"/>
          <a:lstStyle/>
          <a:p>
            <a:pPr marL="0" indent="0">
              <a:buNone/>
            </a:pPr>
            <a:r>
              <a:rPr lang="en-US" sz="1250" b="1" dirty="0">
                <a:solidFill>
                  <a:srgbClr val="16324F"/>
                </a:solidFill>
                <a:latin typeface="Calibri" pitchFamily="34" charset="0"/>
                <a:ea typeface="Calibri" pitchFamily="34" charset="-122"/>
                <a:cs typeface="Calibri" pitchFamily="34" charset="-120"/>
              </a:rPr>
              <a:t>Reading the pattern</a:t>
            </a:r>
            <a:endParaRPr lang="en-US" sz="1250" dirty="0"/>
          </a:p>
        </p:txBody>
      </p:sp>
      <p:sp>
        <p:nvSpPr>
          <p:cNvPr id="9" name="Text 5"/>
          <p:cNvSpPr txBox="1"/>
          <p:nvPr/>
        </p:nvSpPr>
        <p:spPr>
          <a:xfrm>
            <a:off x="640080" y="3767328"/>
            <a:ext cx="3657600" cy="822960"/>
          </a:xfrm>
          <a:prstGeom prst="rect">
            <a:avLst/>
          </a:prstGeom>
          <a:noFill/>
          <a:ln/>
        </p:spPr>
        <p:txBody>
          <a:bodyPr wrap="square" lIns="0" tIns="0" rIns="0" bIns="0" rtlCol="0" anchor="t"/>
          <a:lstStyle/>
          <a:p>
            <a:pPr marL="0" indent="0">
              <a:buNone/>
            </a:pPr>
            <a:r>
              <a:rPr lang="en-US" sz="1050" dirty="0">
                <a:solidFill>
                  <a:srgbClr val="263238"/>
                </a:solidFill>
                <a:latin typeface="Calibri" pitchFamily="34" charset="0"/>
                <a:ea typeface="Calibri" pitchFamily="34" charset="-122"/>
                <a:cs typeface="Calibri" pitchFamily="34" charset="-120"/>
              </a:rPr>
              <a:t>Older males with elevated BP and cholesterol have very high modelled risk; young, low-risk profiles have near-zero risk. Risk stacks across factors.</a:t>
            </a:r>
            <a:endParaRPr lang="en-US" sz="1050" dirty="0"/>
          </a:p>
        </p:txBody>
      </p:sp>
      <p:sp>
        <p:nvSpPr>
          <p:cNvPr id="10" name="Shape 6"/>
          <p:cNvSpPr/>
          <p:nvPr/>
        </p:nvSpPr>
        <p:spPr>
          <a:xfrm>
            <a:off x="4709160" y="3429000"/>
            <a:ext cx="3977640" cy="1188720"/>
          </a:xfrm>
          <a:prstGeom prst="roundRect">
            <a:avLst>
              <a:gd name="adj" fmla="val 615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5" name="Text 7"/>
          <p:cNvSpPr txBox="1"/>
          <p:nvPr/>
        </p:nvSpPr>
        <p:spPr>
          <a:xfrm>
            <a:off x="4892040" y="3493008"/>
            <a:ext cx="3657600" cy="274320"/>
          </a:xfrm>
          <a:prstGeom prst="rect">
            <a:avLst/>
          </a:prstGeom>
          <a:noFill/>
          <a:ln/>
        </p:spPr>
        <p:txBody>
          <a:bodyPr wrap="square" lIns="0" tIns="0" rIns="0" bIns="0" rtlCol="0" anchor="t"/>
          <a:lstStyle/>
          <a:p>
            <a:pPr marL="0" indent="0">
              <a:buNone/>
            </a:pPr>
            <a:r>
              <a:rPr lang="en-US" sz="1250" b="1" dirty="0">
                <a:solidFill>
                  <a:srgbClr val="D17C35"/>
                </a:solidFill>
                <a:latin typeface="Calibri" pitchFamily="34" charset="0"/>
                <a:ea typeface="Calibri" pitchFamily="34" charset="-122"/>
                <a:cs typeface="Calibri" pitchFamily="34" charset="-120"/>
              </a:rPr>
              <a:t>Caution</a:t>
            </a:r>
            <a:endParaRPr lang="en-US" sz="1250" dirty="0"/>
          </a:p>
        </p:txBody>
      </p:sp>
      <p:sp>
        <p:nvSpPr>
          <p:cNvPr id="12" name="Text 8"/>
          <p:cNvSpPr txBox="1"/>
          <p:nvPr/>
        </p:nvSpPr>
        <p:spPr>
          <a:xfrm>
            <a:off x="4892040" y="3767328"/>
            <a:ext cx="3657600" cy="822960"/>
          </a:xfrm>
          <a:prstGeom prst="rect">
            <a:avLst/>
          </a:prstGeom>
          <a:noFill/>
          <a:ln/>
        </p:spPr>
        <p:txBody>
          <a:bodyPr wrap="square" lIns="0" tIns="0" rIns="0" bIns="0" rtlCol="0" anchor="t"/>
          <a:lstStyle/>
          <a:p>
            <a:pPr marL="0" indent="0">
              <a:buNone/>
            </a:pPr>
            <a:r>
              <a:rPr lang="en-US" sz="1050" dirty="0">
                <a:solidFill>
                  <a:srgbClr val="263238"/>
                </a:solidFill>
                <a:latin typeface="Calibri" pitchFamily="34" charset="0"/>
                <a:ea typeface="Calibri" pitchFamily="34" charset="-122"/>
                <a:cs typeface="Calibri" pitchFamily="34" charset="-120"/>
              </a:rPr>
              <a:t>Rows rest on 5 to 9 patients each, and 39 of 108 configurations were never seen. Learned target: single prior of 46.0% (n = 242).</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CPTs of Disease-Conditioned Findings</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11</a:t>
            </a:r>
            <a:endParaRPr lang="en-US" sz="900" dirty="0"/>
          </a:p>
        </p:txBody>
      </p:sp>
      <p:graphicFrame>
        <p:nvGraphicFramePr>
          <p:cNvPr id="6" name="Chart 0"/>
          <p:cNvGraphicFramePr/>
          <p:nvPr/>
        </p:nvGraphicFramePr>
        <p:xfrm>
          <a:off x="457200" y="914400"/>
          <a:ext cx="52120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5852160" y="914400"/>
            <a:ext cx="2834640" cy="3611880"/>
          </a:xfrm>
          <a:prstGeom prst="roundRect">
            <a:avLst>
              <a:gd name="adj" fmla="val 2581"/>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8" name="Text 4"/>
          <p:cNvSpPr txBox="1"/>
          <p:nvPr/>
        </p:nvSpPr>
        <p:spPr>
          <a:xfrm>
            <a:off x="5989320" y="987552"/>
            <a:ext cx="2560320" cy="274320"/>
          </a:xfrm>
          <a:prstGeom prst="rect">
            <a:avLst/>
          </a:prstGeom>
          <a:noFill/>
          <a:ln/>
        </p:spPr>
        <p:txBody>
          <a:bodyPr wrap="square" lIns="0" tIns="0" rIns="0" bIns="0" rtlCol="0" anchor="t"/>
          <a:lstStyle/>
          <a:p>
            <a:pPr marL="0" indent="0">
              <a:buNone/>
            </a:pPr>
            <a:endParaRPr lang="en-US" sz="1300" dirty="0"/>
          </a:p>
        </p:txBody>
      </p:sp>
      <p:sp>
        <p:nvSpPr>
          <p:cNvPr id="9" name="Text 5"/>
          <p:cNvSpPr txBox="1"/>
          <p:nvPr/>
        </p:nvSpPr>
        <p:spPr>
          <a:xfrm>
            <a:off x="5989320" y="1325880"/>
            <a:ext cx="2606040" cy="31089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63238"/>
                </a:solidFill>
                <a:latin typeface="Calibri" pitchFamily="34" charset="0"/>
                <a:ea typeface="Calibri" pitchFamily="34" charset="-122"/>
                <a:cs typeface="Calibri" pitchFamily="34" charset="-120"/>
              </a:rPr>
              <a:t>Asymptomatic chest pain (cp 4): 73.7% of disease cases vs 25.9% without</a:t>
            </a:r>
            <a:endParaRPr lang="en-US" sz="1050" dirty="0"/>
          </a:p>
          <a:p>
            <a:pPr marL="342900" indent="-342900">
              <a:spcAft>
                <a:spcPts val="500"/>
              </a:spcAft>
              <a:buSzPct val="100000"/>
              <a:buChar char="•"/>
            </a:pPr>
            <a:r>
              <a:rPr lang="en-US" sz="1050" dirty="0">
                <a:solidFill>
                  <a:srgbClr val="263238"/>
                </a:solidFill>
                <a:latin typeface="Calibri" pitchFamily="34" charset="0"/>
                <a:ea typeface="Calibri" pitchFamily="34" charset="-122"/>
                <a:cs typeface="Calibri" pitchFamily="34" charset="-120"/>
              </a:rPr>
              <a:t>Reversible thal defect (7): 65.9% vs 16.4%</a:t>
            </a:r>
            <a:endParaRPr lang="en-US" sz="1050" dirty="0"/>
          </a:p>
          <a:p>
            <a:pPr marL="342900" indent="-342900">
              <a:spcAft>
                <a:spcPts val="500"/>
              </a:spcAft>
              <a:buSzPct val="100000"/>
              <a:buChar char="•"/>
            </a:pPr>
            <a:r>
              <a:rPr lang="en-US" sz="1050" dirty="0">
                <a:solidFill>
                  <a:srgbClr val="263238"/>
                </a:solidFill>
                <a:latin typeface="Calibri" pitchFamily="34" charset="0"/>
                <a:ea typeface="Calibri" pitchFamily="34" charset="-122"/>
                <a:cs typeface="Calibri" pitchFamily="34" charset="-120"/>
              </a:rPr>
              <a:t>No coloured vessels (ca 0): only 36.7% of disease cases vs 80.6%</a:t>
            </a:r>
            <a:endParaRPr lang="en-US" sz="1050" dirty="0"/>
          </a:p>
          <a:p>
            <a:pPr marL="342900" indent="-342900">
              <a:spcAft>
                <a:spcPts val="500"/>
              </a:spcAft>
              <a:buSzPct val="100000"/>
              <a:buChar char="•"/>
            </a:pPr>
            <a:r>
              <a:rPr lang="en-US" sz="1050" dirty="0">
                <a:solidFill>
                  <a:srgbClr val="263238"/>
                </a:solidFill>
                <a:latin typeface="Calibri" pitchFamily="34" charset="0"/>
                <a:ea typeface="Calibri" pitchFamily="34" charset="-122"/>
                <a:cs typeface="Calibri" pitchFamily="34" charset="-120"/>
              </a:rPr>
              <a:t>Exercise angina: 54.0% vs 15.2% (expert), 44.0% vs 23.6% (learned)</a:t>
            </a:r>
            <a:endParaRPr lang="en-US" sz="1050" dirty="0"/>
          </a:p>
          <a:p>
            <a:pPr marL="342900" indent="-342900">
              <a:spcAft>
                <a:spcPts val="500"/>
              </a:spcAft>
              <a:buSzPct val="100000"/>
              <a:buChar char="•"/>
            </a:pPr>
            <a:r>
              <a:rPr lang="en-US" sz="1050" dirty="0">
                <a:solidFill>
                  <a:srgbClr val="263238"/>
                </a:solidFill>
                <a:latin typeface="Calibri" pitchFamily="34" charset="0"/>
                <a:ea typeface="Calibri" pitchFamily="34" charset="-122"/>
                <a:cs typeface="Calibri" pitchFamily="34" charset="-120"/>
              </a:rPr>
              <a:t>Target prior: 46.0% before any evidence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Inference: Highest and Lowest Risk Profiles</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2286000"/>
        </p:xfrm>
        <a:graphic>
          <a:graphicData uri="http://schemas.openxmlformats.org/drawingml/2006/table">
            <a:tbl>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Extreme</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Profile (sex, cp, exang, thal, ST, HR, slope, ca)</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P(disease)</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Train n</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457200">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Expert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Highest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Male, cp 4, exang 1, thal 7, High ST, Low HR, flat, ca 3</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99.96%</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1"/>
                  </a:ext>
                </a:extLst>
              </a:tr>
              <a:tr h="457200">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Expert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Lowest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Female, cp 2, exang 1, thal 3, No ST, High HR, down, ca 0</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0.05%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2"/>
                  </a:ext>
                </a:extLst>
              </a:tr>
              <a:tr h="457200">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Learned</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Highest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Female, cp 4, thal 7, ca 3 (any values of the rest: ties)</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98.79%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3"/>
                  </a:ext>
                </a:extLst>
              </a:tr>
              <a:tr h="457200">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Learned</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Lowest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Female, cp 2, thal 3, ca 0 (any values of the rest: ties)</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3.20%</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bl>
          </a:graphicData>
        </a:graphic>
      </p:graphicFrame>
      <p:sp>
        <p:nvSpPr>
          <p:cNvPr id="7" name="Shape 3"/>
          <p:cNvSpPr/>
          <p:nvPr/>
        </p:nvSpPr>
        <p:spPr>
          <a:xfrm>
            <a:off x="457200" y="3429000"/>
            <a:ext cx="3977640" cy="1188720"/>
          </a:xfrm>
          <a:prstGeom prst="roundRect">
            <a:avLst>
              <a:gd name="adj" fmla="val 615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8" name="Text 4"/>
          <p:cNvSpPr txBox="1"/>
          <p:nvPr/>
        </p:nvSpPr>
        <p:spPr>
          <a:xfrm>
            <a:off x="640080" y="3493008"/>
            <a:ext cx="3657600" cy="274320"/>
          </a:xfrm>
          <a:prstGeom prst="rect">
            <a:avLst/>
          </a:prstGeom>
          <a:noFill/>
          <a:ln/>
        </p:spPr>
        <p:txBody>
          <a:bodyPr wrap="square" lIns="0" tIns="0" rIns="0" bIns="0" rtlCol="0" anchor="t"/>
          <a:lstStyle/>
          <a:p>
            <a:pPr marL="0" indent="0">
              <a:buNone/>
            </a:pPr>
            <a:r>
              <a:rPr lang="en-US" sz="1250" b="1" dirty="0">
                <a:solidFill>
                  <a:srgbClr val="16324F"/>
                </a:solidFill>
                <a:latin typeface="Calibri" pitchFamily="34" charset="0"/>
                <a:ea typeface="Calibri" pitchFamily="34" charset="-122"/>
                <a:cs typeface="Calibri" pitchFamily="34" charset="-120"/>
              </a:rPr>
              <a:t>Answer</a:t>
            </a:r>
            <a:endParaRPr lang="en-US" sz="1250" dirty="0"/>
          </a:p>
        </p:txBody>
      </p:sp>
      <p:sp>
        <p:nvSpPr>
          <p:cNvPr id="9" name="Text 5"/>
          <p:cNvSpPr txBox="1"/>
          <p:nvPr/>
        </p:nvSpPr>
        <p:spPr>
          <a:xfrm>
            <a:off x="640080" y="3767328"/>
            <a:ext cx="3657600" cy="822960"/>
          </a:xfrm>
          <a:prstGeom prst="rect">
            <a:avLst/>
          </a:prstGeom>
          <a:noFill/>
          <a:ln/>
        </p:spPr>
        <p:txBody>
          <a:bodyPr wrap="square" lIns="0" tIns="0" rIns="0" bIns="0" rtlCol="0" anchor="t"/>
          <a:lstStyle/>
          <a:p>
            <a:pPr marL="0" indent="0">
              <a:buNone/>
            </a:pPr>
            <a:r>
              <a:rPr lang="en-US" sz="1050" dirty="0">
                <a:solidFill>
                  <a:srgbClr val="263238"/>
                </a:solidFill>
                <a:latin typeface="Calibri" pitchFamily="34" charset="0"/>
                <a:ea typeface="Calibri" pitchFamily="34" charset="-122"/>
                <a:cs typeface="Calibri" pitchFamily="34" charset="-120"/>
              </a:rPr>
              <a:t>Highest: reversible thal defect, asymptomatic chest pain and 3 vessels. Lowest: normal thal, atypical chest pain and 0 vessels.</a:t>
            </a:r>
            <a:endParaRPr lang="en-US" sz="1050" dirty="0"/>
          </a:p>
        </p:txBody>
      </p:sp>
      <p:sp>
        <p:nvSpPr>
          <p:cNvPr id="10" name="Shape 6"/>
          <p:cNvSpPr/>
          <p:nvPr/>
        </p:nvSpPr>
        <p:spPr>
          <a:xfrm>
            <a:off x="4709160" y="3429000"/>
            <a:ext cx="3977640" cy="1188720"/>
          </a:xfrm>
          <a:prstGeom prst="roundRect">
            <a:avLst>
              <a:gd name="adj" fmla="val 615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1" name="Text 7"/>
          <p:cNvSpPr txBox="1"/>
          <p:nvPr/>
        </p:nvSpPr>
        <p:spPr>
          <a:xfrm>
            <a:off x="4892040" y="3493008"/>
            <a:ext cx="3657600" cy="274320"/>
          </a:xfrm>
          <a:prstGeom prst="rect">
            <a:avLst/>
          </a:prstGeom>
          <a:noFill/>
          <a:ln/>
        </p:spPr>
        <p:txBody>
          <a:bodyPr wrap="square" lIns="0" tIns="0" rIns="0" bIns="0" rtlCol="0" anchor="t"/>
          <a:lstStyle/>
          <a:p>
            <a:pPr marL="0" indent="0">
              <a:buNone/>
            </a:pPr>
            <a:r>
              <a:rPr lang="en-US" sz="1250" b="1" dirty="0">
                <a:solidFill>
                  <a:srgbClr val="D17C35"/>
                </a:solidFill>
                <a:latin typeface="Calibri" pitchFamily="34" charset="0"/>
                <a:ea typeface="Calibri" pitchFamily="34" charset="-122"/>
                <a:cs typeface="Calibri" pitchFamily="34" charset="-120"/>
              </a:rPr>
              <a:t>Best observed profile (expert)</a:t>
            </a:r>
            <a:endParaRPr lang="en-US" sz="1250" dirty="0"/>
          </a:p>
        </p:txBody>
      </p:sp>
      <p:sp>
        <p:nvSpPr>
          <p:cNvPr id="12" name="Text 8"/>
          <p:cNvSpPr txBox="1"/>
          <p:nvPr/>
        </p:nvSpPr>
        <p:spPr>
          <a:xfrm>
            <a:off x="4892040" y="3767328"/>
            <a:ext cx="3657600" cy="822960"/>
          </a:xfrm>
          <a:prstGeom prst="rect">
            <a:avLst/>
          </a:prstGeom>
          <a:noFill/>
          <a:ln/>
        </p:spPr>
        <p:txBody>
          <a:bodyPr wrap="square" lIns="0" tIns="0" rIns="0" bIns="0" rtlCol="0" anchor="t"/>
          <a:lstStyle/>
          <a:p>
            <a:pPr marL="0" indent="0">
              <a:buNone/>
            </a:pPr>
            <a:r>
              <a:rPr lang="en-US" sz="1050" dirty="0">
                <a:solidFill>
                  <a:srgbClr val="263238"/>
                </a:solidFill>
                <a:latin typeface="Calibri" pitchFamily="34" charset="0"/>
                <a:ea typeface="Calibri" pitchFamily="34" charset="-122"/>
                <a:cs typeface="Calibri" pitchFamily="34" charset="-120"/>
              </a:rPr>
              <a:t>Male, cp 4, exang 1, thal 7, High ST, Low HR, flat slope, ca 2: 99.93% with 7 training patients.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Ranked Combinations and Model Agreement</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663440" cy="2194560"/>
        </p:xfrm>
        <a:graphic>
          <a:graphicData uri="http://schemas.openxmlformats.org/drawingml/2006/table">
            <a:tbl>
              <a:tblPr/>
              <a:tblGrid>
                <a:gridCol w="5029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Rank</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Expert profile (sex 1, cp 4, exang 1, thal 7 +)</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P(D)</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High ST, Low HR, slope 2, ca 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99.96%</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1"/>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High ST, Low HR, slope 2, ca 2</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99.93%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2"/>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High ST, Low HR, slope 2, ca 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99.88%</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Moderate ST, Low HR, slope 2, ca 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99.78%</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High ST, Low HR, slope 1, ca 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99.77%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3"/>
          <p:cNvSpPr/>
          <p:nvPr/>
        </p:nvSpPr>
        <p:spPr>
          <a:xfrm>
            <a:off x="457200" y="3291840"/>
            <a:ext cx="4663440" cy="1325880"/>
          </a:xfrm>
          <a:prstGeom prst="roundRect">
            <a:avLst>
              <a:gd name="adj" fmla="val 5517"/>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8" name="Text 4"/>
          <p:cNvSpPr txBox="1"/>
          <p:nvPr/>
        </p:nvSpPr>
        <p:spPr>
          <a:xfrm>
            <a:off x="640080" y="3364992"/>
            <a:ext cx="4297680" cy="274320"/>
          </a:xfrm>
          <a:prstGeom prst="rect">
            <a:avLst/>
          </a:prstGeom>
          <a:noFill/>
          <a:ln/>
        </p:spPr>
        <p:txBody>
          <a:bodyPr wrap="square" lIns="0" tIns="0" rIns="0" bIns="0" rtlCol="0" anchor="t"/>
          <a:lstStyle/>
          <a:p>
            <a:pPr marL="0" indent="0">
              <a:buNone/>
            </a:pPr>
            <a:r>
              <a:rPr lang="en-US" sz="1250" b="1" dirty="0">
                <a:solidFill>
                  <a:srgbClr val="D17C35"/>
                </a:solidFill>
                <a:latin typeface="Calibri" pitchFamily="34" charset="0"/>
                <a:ea typeface="Calibri" pitchFamily="34" charset="-122"/>
                <a:cs typeface="Calibri" pitchFamily="34" charset="-120"/>
              </a:rPr>
              <a:t>Learned model ranking</a:t>
            </a:r>
            <a:endParaRPr lang="en-US" sz="1250" dirty="0"/>
          </a:p>
        </p:txBody>
      </p:sp>
      <p:sp>
        <p:nvSpPr>
          <p:cNvPr id="9" name="Text 5"/>
          <p:cNvSpPr txBox="1"/>
          <p:nvPr/>
        </p:nvSpPr>
        <p:spPr>
          <a:xfrm>
            <a:off x="640080" y="3639312"/>
            <a:ext cx="4297680" cy="914400"/>
          </a:xfrm>
          <a:prstGeom prst="rect">
            <a:avLst/>
          </a:prstGeom>
          <a:noFill/>
          <a:ln/>
        </p:spPr>
        <p:txBody>
          <a:bodyPr wrap="square" lIns="0" tIns="0" rIns="0" bIns="0" rtlCol="0" anchor="t"/>
          <a:lstStyle/>
          <a:p>
            <a:pPr marL="0" indent="0">
              <a:buNone/>
            </a:pPr>
            <a:r>
              <a:rPr lang="en-US" sz="1100" dirty="0">
                <a:solidFill>
                  <a:srgbClr val="263238"/>
                </a:solidFill>
                <a:latin typeface="Calibri" pitchFamily="34" charset="0"/>
                <a:ea typeface="Calibri" pitchFamily="34" charset="-122"/>
                <a:cs typeface="Calibri" pitchFamily="34" charset="-120"/>
              </a:rPr>
              <a:t>Top observed profiles all tie at 98.79% because only cp, thal and ca matter: cp 4, thal 7, ca 3.</a:t>
            </a:r>
            <a:endParaRPr lang="en-US" sz="1100" dirty="0"/>
          </a:p>
        </p:txBody>
      </p:sp>
      <p:sp>
        <p:nvSpPr>
          <p:cNvPr id="10" name="Shape 6"/>
          <p:cNvSpPr/>
          <p:nvPr/>
        </p:nvSpPr>
        <p:spPr>
          <a:xfrm>
            <a:off x="5303520" y="960120"/>
            <a:ext cx="3383280" cy="3657600"/>
          </a:xfrm>
          <a:prstGeom prst="roundRect">
            <a:avLst>
              <a:gd name="adj" fmla="val 2162"/>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pic>
        <p:nvPicPr>
          <p:cNvPr id="11" name="Image 0" descr="/home/claude/img/c29_15.png"/>
          <p:cNvPicPr>
            <a:picLocks noChangeAspect="1"/>
          </p:cNvPicPr>
          <p:nvPr/>
        </p:nvPicPr>
        <p:blipFill>
          <a:blip r:embed="rId3"/>
          <a:stretch>
            <a:fillRect/>
          </a:stretch>
        </p:blipFill>
        <p:spPr>
          <a:xfrm>
            <a:off x="5349240" y="1051560"/>
            <a:ext cx="3291840" cy="1806292"/>
          </a:xfrm>
          <a:prstGeom prst="rect">
            <a:avLst/>
          </a:prstGeom>
        </p:spPr>
      </p:pic>
      <p:sp>
        <p:nvSpPr>
          <p:cNvPr id="12" name="Text 7"/>
          <p:cNvSpPr txBox="1"/>
          <p:nvPr/>
        </p:nvSpPr>
        <p:spPr>
          <a:xfrm>
            <a:off x="5440680" y="2949292"/>
            <a:ext cx="3108960" cy="457200"/>
          </a:xfrm>
          <a:prstGeom prst="rect">
            <a:avLst/>
          </a:prstGeom>
          <a:noFill/>
          <a:ln/>
        </p:spPr>
        <p:txBody>
          <a:bodyPr wrap="square" lIns="0" tIns="0" rIns="0" bIns="0" rtlCol="0" anchor="t"/>
          <a:lstStyle/>
          <a:p>
            <a:pPr marL="0" indent="0">
              <a:buNone/>
            </a:pPr>
            <a:r>
              <a:rPr lang="en-US" sz="1000" dirty="0">
                <a:solidFill>
                  <a:srgbClr val="5B6B78"/>
                </a:solidFill>
                <a:latin typeface="Calibri" pitchFamily="34" charset="0"/>
                <a:ea typeface="Calibri" pitchFamily="34" charset="-122"/>
                <a:cs typeface="Calibri" pitchFamily="34" charset="-120"/>
              </a:rPr>
              <a:t>Each dot is one of 5,184 evidence profiles.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Changing One Variable and Reverse Inference</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14</a:t>
            </a:r>
            <a:endParaRPr lang="en-US" sz="900" dirty="0"/>
          </a:p>
        </p:txBody>
      </p:sp>
      <p:graphicFrame>
        <p:nvGraphicFramePr>
          <p:cNvPr id="6" name="Chart 0"/>
          <p:cNvGraphicFramePr/>
          <p:nvPr/>
        </p:nvGraphicFramePr>
        <p:xfrm>
          <a:off x="457200" y="914400"/>
          <a:ext cx="39319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457200" y="3931920"/>
            <a:ext cx="3931920" cy="685800"/>
          </a:xfrm>
          <a:prstGeom prst="rect">
            <a:avLst/>
          </a:prstGeom>
          <a:noFill/>
          <a:ln/>
        </p:spPr>
        <p:txBody>
          <a:bodyPr wrap="square" lIns="0" tIns="0" rIns="0" bIns="0" rtlCol="0" anchor="t"/>
          <a:lstStyle/>
          <a:p>
            <a:pPr marL="0" indent="0">
              <a:buNone/>
            </a:pPr>
            <a:r>
              <a:rPr lang="en-US" sz="1050" b="1" dirty="0">
                <a:solidFill>
                  <a:srgbClr val="16324F"/>
                </a:solidFill>
                <a:latin typeface="Calibri" pitchFamily="34" charset="0"/>
                <a:ea typeface="Calibri" pitchFamily="34" charset="-122"/>
                <a:cs typeface="Calibri" pitchFamily="34" charset="-120"/>
              </a:rPr>
              <a:t>Expert +15.7 pp, learned +34.7 pp. Other single changes move the posterior far less; the learned model is blind to variables outside its blanket.</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0" y="960120"/>
          <a:ext cx="4114800" cy="2057400"/>
        </p:xfrm>
        <a:graphic>
          <a:graphicData uri="http://schemas.openxmlformats.org/drawingml/2006/table">
            <a:tbl>
              <a:tblPr/>
              <a:tblGrid>
                <a:gridCol w="10972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1148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Given disease = 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Most probable state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Expert</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Learned</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41148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cp</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4 (asymptomatic)</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73.7%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73.7%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thal</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7 (reversible)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65.9%</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65.9%</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2"/>
                  </a:ext>
                </a:extLst>
              </a:tr>
              <a:tr h="41148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exang</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Expert 1 / Learned 0</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54.0%</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56.0%</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3"/>
                  </a:ext>
                </a:extLst>
              </a:tr>
              <a:tr h="41148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ca</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0 vessels (ca &gt; 0: 63.3%)</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36.7%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36.7%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bl>
          </a:graphicData>
        </a:graphic>
      </p:graphicFrame>
      <p:sp>
        <p:nvSpPr>
          <p:cNvPr id="9" name="Text 4"/>
          <p:cNvSpPr txBox="1"/>
          <p:nvPr/>
        </p:nvSpPr>
        <p:spPr>
          <a:xfrm>
            <a:off x="4572000" y="3108960"/>
            <a:ext cx="4114800" cy="1097280"/>
          </a:xfrm>
          <a:prstGeom prst="rect">
            <a:avLst/>
          </a:prstGeom>
          <a:noFill/>
          <a:ln/>
        </p:spPr>
        <p:txBody>
          <a:bodyPr wrap="square" lIns="0" tIns="0" rIns="0" bIns="0" rtlCol="0" anchor="t"/>
          <a:lstStyle/>
          <a:p>
            <a:pPr marL="0" indent="0">
              <a:buNone/>
            </a:pPr>
            <a:r>
              <a:rPr lang="en-US" sz="1050" dirty="0">
                <a:solidFill>
                  <a:srgbClr val="263238"/>
                </a:solidFill>
                <a:latin typeface="Calibri" pitchFamily="34" charset="0"/>
                <a:ea typeface="Calibri" pitchFamily="34" charset="-122"/>
                <a:cs typeface="Calibri" pitchFamily="34" charset="-120"/>
              </a:rPr>
              <a:t>Reverse inference: P(finding | disease). The two models agree on cp, thal and ca because these share the same target-only parent. They differ only on exercise angina.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Are the Inference Results Reasonable?</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15</a:t>
            </a:r>
            <a:endParaRPr lang="en-US" sz="900" dirty="0"/>
          </a:p>
        </p:txBody>
      </p:sp>
      <p:sp>
        <p:nvSpPr>
          <p:cNvPr id="6" name="Shape 3"/>
          <p:cNvSpPr/>
          <p:nvPr/>
        </p:nvSpPr>
        <p:spPr>
          <a:xfrm>
            <a:off x="457200" y="960120"/>
            <a:ext cx="4023360" cy="3611880"/>
          </a:xfrm>
          <a:prstGeom prst="roundRect">
            <a:avLst>
              <a:gd name="adj" fmla="val 2025"/>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7" name="Text 4"/>
          <p:cNvSpPr txBox="1"/>
          <p:nvPr/>
        </p:nvSpPr>
        <p:spPr>
          <a:xfrm>
            <a:off x="640080" y="1051560"/>
            <a:ext cx="3657600" cy="274320"/>
          </a:xfrm>
          <a:prstGeom prst="rect">
            <a:avLst/>
          </a:prstGeom>
          <a:noFill/>
          <a:ln/>
        </p:spPr>
        <p:txBody>
          <a:bodyPr wrap="square" lIns="0" tIns="0" rIns="0" bIns="0" rtlCol="0" anchor="t"/>
          <a:lstStyle/>
          <a:p>
            <a:pPr marL="0" indent="0">
              <a:buNone/>
            </a:pPr>
            <a:r>
              <a:rPr lang="en-US" sz="1300" b="1" dirty="0">
                <a:solidFill>
                  <a:srgbClr val="2E8B57"/>
                </a:solidFill>
                <a:latin typeface="Calibri" pitchFamily="34" charset="0"/>
                <a:ea typeface="Calibri" pitchFamily="34" charset="-122"/>
                <a:cs typeface="Calibri" pitchFamily="34" charset="-120"/>
              </a:rPr>
              <a:t>Reasonable</a:t>
            </a:r>
            <a:endParaRPr lang="en-US" sz="1300" dirty="0"/>
          </a:p>
        </p:txBody>
      </p:sp>
      <p:sp>
        <p:nvSpPr>
          <p:cNvPr id="8" name="Text 5"/>
          <p:cNvSpPr txBox="1"/>
          <p:nvPr/>
        </p:nvSpPr>
        <p:spPr>
          <a:xfrm>
            <a:off x="640080" y="1371600"/>
            <a:ext cx="3703320" cy="31089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Reversible defects, more vessels and exercise angina raise risk in both models</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Both agree on the direction of every finding</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cp 4 predicts disease here because this is a selected clinical sample, not the general population</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Reverse and forward probabilities differ (ca 0 is common in disease, yet ca 3 is riskier)</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663440" y="960120"/>
          <a:ext cx="4023360" cy="1828800"/>
        </p:xfrm>
        <a:graphic>
          <a:graphicData uri="http://schemas.openxmlformats.org/drawingml/2006/table">
            <a:tbl>
              <a:tblPr/>
              <a:tblGrid>
                <a:gridCol w="21031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Sensitivity: P(disease) by ESS</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Expert, its high profile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99.98%</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99.96%</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99.95%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Expert, its low profile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0.002%</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0.05%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2"/>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Learned, its high profile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99.2%</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98.8%</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98.4%</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50" dirty="0">
                          <a:solidFill>
                            <a:srgbClr val="263238"/>
                          </a:solidFill>
                          <a:latin typeface="Calibri" pitchFamily="34" charset="0"/>
                          <a:ea typeface="Calibri" pitchFamily="34" charset="-122"/>
                          <a:cs typeface="Calibri" pitchFamily="34" charset="-120"/>
                        </a:rPr>
                        <a:t>Learned, its low profile</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2.99%</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050" dirty="0">
                          <a:solidFill>
                            <a:srgbClr val="263238"/>
                          </a:solidFill>
                          <a:latin typeface="Calibri" pitchFamily="34" charset="0"/>
                          <a:ea typeface="Calibri" pitchFamily="34" charset="-122"/>
                          <a:cs typeface="Calibri" pitchFamily="34" charset="-120"/>
                        </a:rPr>
                        <a:t>3.47%</a:t>
                      </a:r>
                      <a:endParaRPr lang="en-US" sz="105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bl>
          </a:graphicData>
        </a:graphic>
      </p:graphicFrame>
      <p:sp>
        <p:nvSpPr>
          <p:cNvPr id="10" name="Shape 6"/>
          <p:cNvSpPr/>
          <p:nvPr/>
        </p:nvSpPr>
        <p:spPr>
          <a:xfrm>
            <a:off x="4663440" y="2971800"/>
            <a:ext cx="4023360" cy="1600200"/>
          </a:xfrm>
          <a:prstGeom prst="roundRect">
            <a:avLst>
              <a:gd name="adj" fmla="val 4571"/>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1" name="Text 7"/>
          <p:cNvSpPr txBox="1"/>
          <p:nvPr/>
        </p:nvSpPr>
        <p:spPr>
          <a:xfrm>
            <a:off x="4846320" y="3044952"/>
            <a:ext cx="3657600" cy="274320"/>
          </a:xfrm>
          <a:prstGeom prst="rect">
            <a:avLst/>
          </a:prstGeom>
          <a:noFill/>
          <a:ln/>
        </p:spPr>
        <p:txBody>
          <a:bodyPr wrap="square" lIns="0" tIns="0" rIns="0" bIns="0" rtlCol="0" anchor="t"/>
          <a:lstStyle/>
          <a:p>
            <a:pPr marL="0" indent="0">
              <a:buNone/>
            </a:pPr>
            <a:r>
              <a:rPr lang="en-US" sz="1300" b="1" dirty="0">
                <a:solidFill>
                  <a:srgbClr val="D17C35"/>
                </a:solidFill>
                <a:latin typeface="Calibri" pitchFamily="34" charset="0"/>
                <a:ea typeface="Calibri" pitchFamily="34" charset="-122"/>
                <a:cs typeface="Calibri" pitchFamily="34" charset="-120"/>
              </a:rPr>
              <a:t>Robustness</a:t>
            </a:r>
            <a:endParaRPr lang="en-US" sz="1300" dirty="0"/>
          </a:p>
        </p:txBody>
      </p:sp>
      <p:sp>
        <p:nvSpPr>
          <p:cNvPr id="12" name="Text 8"/>
          <p:cNvSpPr txBox="1"/>
          <p:nvPr/>
        </p:nvSpPr>
        <p:spPr>
          <a:xfrm>
            <a:off x="4846320" y="3337560"/>
            <a:ext cx="3657600" cy="1188720"/>
          </a:xfrm>
          <a:prstGeom prst="rect">
            <a:avLst/>
          </a:prstGeom>
          <a:noFill/>
          <a:ln/>
        </p:spPr>
        <p:txBody>
          <a:bodyPr wrap="square" lIns="0" tIns="0" rIns="0" bIns="0" rtlCol="0" anchor="t"/>
          <a:lstStyle/>
          <a:p>
            <a:pPr marL="0" indent="0">
              <a:buNone/>
            </a:pPr>
            <a:r>
              <a:rPr lang="en-US" sz="1100" dirty="0">
                <a:solidFill>
                  <a:srgbClr val="263238"/>
                </a:solidFill>
                <a:latin typeface="Calibri" pitchFamily="34" charset="0"/>
                <a:ea typeface="Calibri" pitchFamily="34" charset="-122"/>
                <a:cs typeface="Calibri" pitchFamily="34" charset="-120"/>
              </a:rPr>
              <a:t>Expert posteriors move by up to 9.45 pp under different smoothing; learned by only 0.80 pp. Extreme values on unsupported profiles are not certainty.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Model Evaluation on the Held-Out Test Set</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3931920" cy="2962656"/>
        </p:xfrm>
        <a:graphic>
          <a:graphicData uri="http://schemas.openxmlformats.org/drawingml/2006/table">
            <a:tbl>
              <a:tblPr/>
              <a:tblGrid>
                <a:gridCol w="18288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2918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Expert</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Learned</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85.2%</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86.9%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80.6%</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85.7%</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89.3%</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85.7%</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3"/>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Specificity</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81.8%</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87.9%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EAF1F7"/>
                    </a:solidFill>
                  </a:tcPr>
                </a:tc>
                <a:extLst>
                  <a:ext uri="{0D108BD9-81ED-4DB2-BD59-A6C34878D82A}">
                    <a16:rowId xmlns:a16="http://schemas.microsoft.com/office/drawing/2014/main" val="10004"/>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F1-score</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0.847</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0.857</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0.939</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0.918</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6"/>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Avg precision</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0.934</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0.914</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7"/>
                  </a:ext>
                </a:extLst>
              </a:tr>
              <a:tr h="329184">
                <a:tc>
                  <a:txBody>
                    <a:bodyPr/>
                    <a:lstStyle/>
                    <a:p>
                      <a:pPr marL="0" indent="0" algn="l">
                        <a:buNone/>
                      </a:pPr>
                      <a:r>
                        <a:rPr lang="en-US" sz="1100" dirty="0">
                          <a:solidFill>
                            <a:srgbClr val="263238"/>
                          </a:solidFill>
                          <a:latin typeface="Calibri" pitchFamily="34" charset="0"/>
                          <a:ea typeface="Calibri" pitchFamily="34" charset="-122"/>
                          <a:cs typeface="Calibri" pitchFamily="34" charset="-120"/>
                        </a:rPr>
                        <a:t>Brier (lower better)</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0.105</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tc>
                  <a:txBody>
                    <a:bodyPr/>
                    <a:lstStyle/>
                    <a:p>
                      <a:pPr marL="0" indent="0" algn="ctr">
                        <a:buNone/>
                      </a:pPr>
                      <a:r>
                        <a:rPr lang="en-US" sz="1100" dirty="0">
                          <a:solidFill>
                            <a:srgbClr val="263238"/>
                          </a:solidFill>
                          <a:latin typeface="Calibri" pitchFamily="34" charset="0"/>
                          <a:ea typeface="Calibri" pitchFamily="34" charset="-122"/>
                          <a:cs typeface="Calibri" pitchFamily="34" charset="-120"/>
                        </a:rPr>
                        <a:t>0.108</a:t>
                      </a:r>
                      <a:endParaRPr lang="en-US" sz="1100" dirty="0">
                        <a:latin typeface="Calibri" charset="0"/>
                        <a:ea typeface="Calibri" charset="0"/>
                        <a:cs typeface="Calibri" charset="0"/>
                      </a:endParaRPr>
                    </a:p>
                  </a:txBody>
                  <a:tcPr marL="54864" marR="54864" marT="0" marB="0" anchor="ctr">
                    <a:lnL w="6350" cap="flat" cmpd="sng" algn="ctr">
                      <a:solidFill>
                        <a:srgbClr val="C9D6E0"/>
                      </a:solidFill>
                      <a:prstDash val="solid"/>
                      <a:round/>
                      <a:headEnd type="none" w="med" len="med"/>
                      <a:tailEnd type="none" w="med" len="med"/>
                    </a:lnL>
                    <a:lnR w="6350" cap="flat" cmpd="sng" algn="ctr">
                      <a:solidFill>
                        <a:srgbClr val="C9D6E0"/>
                      </a:solidFill>
                      <a:prstDash val="solid"/>
                      <a:round/>
                      <a:headEnd type="none" w="med" len="med"/>
                      <a:tailEnd type="none" w="med" len="med"/>
                    </a:lnR>
                    <a:lnT w="6350" cap="flat" cmpd="sng" algn="ctr">
                      <a:solidFill>
                        <a:srgbClr val="C9D6E0"/>
                      </a:solidFill>
                      <a:prstDash val="solid"/>
                      <a:round/>
                      <a:headEnd type="none" w="med" len="med"/>
                      <a:tailEnd type="none" w="med" len="med"/>
                    </a:lnT>
                    <a:lnB w="6350" cap="flat" cmpd="sng" algn="ctr">
                      <a:solidFill>
                        <a:srgbClr val="C9D6E0"/>
                      </a:solidFill>
                      <a:prstDash val="solid"/>
                      <a:round/>
                      <a:headEnd type="none" w="med" len="med"/>
                      <a:tailEnd type="none" w="med" len="med"/>
                    </a:lnB>
                    <a:solidFill>
                      <a:srgbClr val="FBE9D6"/>
                    </a:solidFill>
                  </a:tcPr>
                </a:tc>
                <a:extLst>
                  <a:ext uri="{0D108BD9-81ED-4DB2-BD59-A6C34878D82A}">
                    <a16:rowId xmlns:a16="http://schemas.microsoft.com/office/drawing/2014/main" val="10008"/>
                  </a:ext>
                </a:extLst>
              </a:tr>
            </a:tbl>
          </a:graphicData>
        </a:graphic>
      </p:graphicFrame>
      <p:sp>
        <p:nvSpPr>
          <p:cNvPr id="7" name="Text 3"/>
          <p:cNvSpPr txBox="1"/>
          <p:nvPr/>
        </p:nvSpPr>
        <p:spPr>
          <a:xfrm>
            <a:off x="457200" y="4023360"/>
            <a:ext cx="3931920" cy="457200"/>
          </a:xfrm>
          <a:prstGeom prst="rect">
            <a:avLst/>
          </a:prstGeom>
          <a:noFill/>
          <a:ln/>
        </p:spPr>
        <p:txBody>
          <a:bodyPr wrap="square" lIns="0" tIns="0" rIns="0" bIns="0" rtlCol="0" anchor="t"/>
          <a:lstStyle/>
          <a:p>
            <a:pPr marL="0" indent="0">
              <a:buNone/>
            </a:pPr>
            <a:r>
              <a:rPr lang="en-US" sz="1050" dirty="0">
                <a:solidFill>
                  <a:srgbClr val="5B6B78"/>
                </a:solidFill>
                <a:latin typeface="Calibri" pitchFamily="34" charset="0"/>
                <a:ea typeface="Calibri" pitchFamily="34" charset="-122"/>
                <a:cs typeface="Calibri" pitchFamily="34" charset="-120"/>
              </a:rPr>
              <a:t>Baseline (no disease for all): accuracy 54.1%, AUC 0.50</a:t>
            </a:r>
            <a:endParaRPr lang="en-US" sz="1050" dirty="0"/>
          </a:p>
        </p:txBody>
      </p:sp>
      <p:sp>
        <p:nvSpPr>
          <p:cNvPr id="8" name="Shape 4"/>
          <p:cNvSpPr/>
          <p:nvPr/>
        </p:nvSpPr>
        <p:spPr>
          <a:xfrm>
            <a:off x="4572000" y="960120"/>
            <a:ext cx="4114800" cy="3927348"/>
          </a:xfrm>
          <a:prstGeom prst="roundRect">
            <a:avLst>
              <a:gd name="adj" fmla="val 2025"/>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pPr>
              <a:defRPr sz="2175" b="1">
                <a:solidFill>
                  <a:srgbClr val="D17C35"/>
                </a:solidFill>
                <a:latin typeface="Helvetica Neue"/>
                <a:ea typeface="Helvetica Neue"/>
                <a:cs typeface="Helvetica Neue"/>
              </a:defRPr>
            </a:pPr>
            <a:endParaRPr lang="en-ZA" sz="1100" b="1" dirty="0">
              <a:solidFill>
                <a:srgbClr val="D17C35"/>
              </a:solidFill>
              <a:ea typeface="Helvetica Neue"/>
              <a:cs typeface="Helvetica Neue"/>
            </a:endParaRPr>
          </a:p>
        </p:txBody>
      </p:sp>
      <p:sp>
        <p:nvSpPr>
          <p:cNvPr id="9" name="Text 5"/>
          <p:cNvSpPr txBox="1"/>
          <p:nvPr/>
        </p:nvSpPr>
        <p:spPr>
          <a:xfrm>
            <a:off x="4892040" y="1097280"/>
            <a:ext cx="2377440" cy="228600"/>
          </a:xfrm>
          <a:prstGeom prst="rect">
            <a:avLst/>
          </a:prstGeom>
          <a:noFill/>
          <a:ln/>
        </p:spPr>
        <p:txBody>
          <a:bodyPr wrap="square" lIns="0" tIns="0" rIns="0" bIns="0" rtlCol="0" anchor="t"/>
          <a:lstStyle/>
          <a:p>
            <a:pPr marL="0" indent="0" algn="ctr">
              <a:buNone/>
            </a:pPr>
            <a:r>
              <a:rPr lang="en-US" sz="1200" b="1" dirty="0">
                <a:solidFill>
                  <a:schemeClr val="tx2"/>
                </a:solidFill>
                <a:latin typeface="Calibri" pitchFamily="34" charset="0"/>
                <a:ea typeface="Calibri" pitchFamily="34" charset="-122"/>
                <a:cs typeface="Calibri" pitchFamily="34" charset="-120"/>
              </a:rPr>
              <a:t>Expert</a:t>
            </a:r>
            <a:endParaRPr lang="en-US" sz="1200" dirty="0">
              <a:solidFill>
                <a:schemeClr val="tx2"/>
              </a:solidFill>
            </a:endParaRPr>
          </a:p>
        </p:txBody>
      </p:sp>
      <p:sp>
        <p:nvSpPr>
          <p:cNvPr id="10" name="Shape 6"/>
          <p:cNvSpPr/>
          <p:nvPr/>
        </p:nvSpPr>
        <p:spPr>
          <a:xfrm>
            <a:off x="5394960" y="1600200"/>
            <a:ext cx="868680" cy="640080"/>
          </a:xfrm>
          <a:prstGeom prst="rect">
            <a:avLst/>
          </a:prstGeom>
          <a:solidFill>
            <a:srgbClr val="2F6B9A"/>
          </a:solidFill>
          <a:ln w="12700">
            <a:solidFill>
              <a:srgbClr val="FFFFFF"/>
            </a:solidFill>
            <a:prstDash val="solid"/>
          </a:ln>
        </p:spPr>
        <p:txBody>
          <a:bodyPr/>
          <a:lstStyle/>
          <a:p>
            <a:endParaRPr lang="en-US"/>
          </a:p>
        </p:txBody>
      </p:sp>
      <p:sp>
        <p:nvSpPr>
          <p:cNvPr id="11" name="Text 7"/>
          <p:cNvSpPr txBox="1"/>
          <p:nvPr/>
        </p:nvSpPr>
        <p:spPr>
          <a:xfrm>
            <a:off x="5394960" y="1600200"/>
            <a:ext cx="8686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27</a:t>
            </a:r>
            <a:endParaRPr lang="en-US" sz="1200" dirty="0"/>
          </a:p>
          <a:p>
            <a:pPr marL="0" indent="0" algn="ctr">
              <a:buNone/>
            </a:pPr>
            <a:r>
              <a:rPr lang="en-US" sz="900" dirty="0">
                <a:solidFill>
                  <a:srgbClr val="FFFFFF"/>
                </a:solidFill>
                <a:latin typeface="Calibri" pitchFamily="34" charset="0"/>
                <a:ea typeface="Calibri" pitchFamily="34" charset="-122"/>
                <a:cs typeface="Calibri" pitchFamily="34" charset="-120"/>
              </a:rPr>
              <a:t>TN</a:t>
            </a:r>
            <a:endParaRPr lang="en-US" sz="1200" dirty="0"/>
          </a:p>
        </p:txBody>
      </p:sp>
      <p:sp>
        <p:nvSpPr>
          <p:cNvPr id="12" name="Shape 8"/>
          <p:cNvSpPr/>
          <p:nvPr/>
        </p:nvSpPr>
        <p:spPr>
          <a:xfrm>
            <a:off x="6309360" y="1600200"/>
            <a:ext cx="868680" cy="640080"/>
          </a:xfrm>
          <a:prstGeom prst="rect">
            <a:avLst/>
          </a:prstGeom>
          <a:solidFill>
            <a:srgbClr val="F1BD84"/>
          </a:solidFill>
          <a:ln w="12700">
            <a:solidFill>
              <a:srgbClr val="FFFFFF"/>
            </a:solidFill>
            <a:prstDash val="solid"/>
          </a:ln>
        </p:spPr>
        <p:txBody>
          <a:bodyPr/>
          <a:lstStyle/>
          <a:p>
            <a:endParaRPr lang="en-US"/>
          </a:p>
        </p:txBody>
      </p:sp>
      <p:sp>
        <p:nvSpPr>
          <p:cNvPr id="13" name="Text 9"/>
          <p:cNvSpPr txBox="1"/>
          <p:nvPr/>
        </p:nvSpPr>
        <p:spPr>
          <a:xfrm>
            <a:off x="6309360" y="1600200"/>
            <a:ext cx="868680" cy="640080"/>
          </a:xfrm>
          <a:prstGeom prst="rect">
            <a:avLst/>
          </a:prstGeom>
          <a:noFill/>
          <a:ln/>
        </p:spPr>
        <p:txBody>
          <a:bodyPr wrap="square" lIns="0" tIns="0" rIns="0" bIns="0" rtlCol="0" anchor="ctr"/>
          <a:lstStyle/>
          <a:p>
            <a:pPr marL="0" indent="0" algn="ctr">
              <a:buNone/>
            </a:pPr>
            <a:r>
              <a:rPr lang="en-US" sz="2000" b="1" dirty="0">
                <a:solidFill>
                  <a:srgbClr val="263238"/>
                </a:solidFill>
                <a:latin typeface="Calibri" pitchFamily="34" charset="0"/>
                <a:ea typeface="Calibri" pitchFamily="34" charset="-122"/>
                <a:cs typeface="Calibri" pitchFamily="34" charset="-120"/>
              </a:rPr>
              <a:t>6</a:t>
            </a:r>
            <a:endParaRPr lang="en-US" sz="1200" dirty="0"/>
          </a:p>
          <a:p>
            <a:pPr marL="0" indent="0" algn="ctr">
              <a:buNone/>
            </a:pPr>
            <a:r>
              <a:rPr lang="en-US" sz="900" dirty="0">
                <a:solidFill>
                  <a:srgbClr val="263238"/>
                </a:solidFill>
                <a:latin typeface="Calibri" pitchFamily="34" charset="0"/>
                <a:ea typeface="Calibri" pitchFamily="34" charset="-122"/>
                <a:cs typeface="Calibri" pitchFamily="34" charset="-120"/>
              </a:rPr>
              <a:t>FP</a:t>
            </a:r>
            <a:endParaRPr lang="en-US" sz="1200" dirty="0"/>
          </a:p>
        </p:txBody>
      </p:sp>
      <p:sp>
        <p:nvSpPr>
          <p:cNvPr id="14" name="Shape 10"/>
          <p:cNvSpPr/>
          <p:nvPr/>
        </p:nvSpPr>
        <p:spPr>
          <a:xfrm>
            <a:off x="5394960" y="2286000"/>
            <a:ext cx="868680" cy="640080"/>
          </a:xfrm>
          <a:prstGeom prst="rect">
            <a:avLst/>
          </a:prstGeom>
          <a:solidFill>
            <a:srgbClr val="F1BD84"/>
          </a:solidFill>
          <a:ln w="12700">
            <a:solidFill>
              <a:srgbClr val="FFFFFF"/>
            </a:solidFill>
            <a:prstDash val="solid"/>
          </a:ln>
        </p:spPr>
        <p:txBody>
          <a:bodyPr/>
          <a:lstStyle/>
          <a:p>
            <a:endParaRPr lang="en-US"/>
          </a:p>
        </p:txBody>
      </p:sp>
      <p:sp>
        <p:nvSpPr>
          <p:cNvPr id="15" name="Text 11"/>
          <p:cNvSpPr txBox="1"/>
          <p:nvPr/>
        </p:nvSpPr>
        <p:spPr>
          <a:xfrm>
            <a:off x="5394960" y="2286000"/>
            <a:ext cx="868680" cy="640080"/>
          </a:xfrm>
          <a:prstGeom prst="rect">
            <a:avLst/>
          </a:prstGeom>
          <a:noFill/>
          <a:ln/>
        </p:spPr>
        <p:txBody>
          <a:bodyPr wrap="square" lIns="0" tIns="0" rIns="0" bIns="0" rtlCol="0" anchor="ctr"/>
          <a:lstStyle/>
          <a:p>
            <a:pPr marL="0" indent="0" algn="ctr">
              <a:buNone/>
            </a:pPr>
            <a:r>
              <a:rPr lang="en-US" sz="2000" b="1" dirty="0">
                <a:solidFill>
                  <a:srgbClr val="263238"/>
                </a:solidFill>
                <a:latin typeface="Calibri" pitchFamily="34" charset="0"/>
                <a:ea typeface="Calibri" pitchFamily="34" charset="-122"/>
                <a:cs typeface="Calibri" pitchFamily="34" charset="-120"/>
              </a:rPr>
              <a:t>3</a:t>
            </a:r>
            <a:endParaRPr lang="en-US" sz="1200" dirty="0"/>
          </a:p>
          <a:p>
            <a:pPr marL="0" indent="0" algn="ctr">
              <a:buNone/>
            </a:pPr>
            <a:r>
              <a:rPr lang="en-US" sz="900" dirty="0">
                <a:solidFill>
                  <a:srgbClr val="263238"/>
                </a:solidFill>
                <a:latin typeface="Calibri" pitchFamily="34" charset="0"/>
                <a:ea typeface="Calibri" pitchFamily="34" charset="-122"/>
                <a:cs typeface="Calibri" pitchFamily="34" charset="-120"/>
              </a:rPr>
              <a:t>FN</a:t>
            </a:r>
            <a:endParaRPr lang="en-US" sz="1200" dirty="0"/>
          </a:p>
        </p:txBody>
      </p:sp>
      <p:sp>
        <p:nvSpPr>
          <p:cNvPr id="16" name="Shape 12"/>
          <p:cNvSpPr/>
          <p:nvPr/>
        </p:nvSpPr>
        <p:spPr>
          <a:xfrm>
            <a:off x="6309360" y="2286000"/>
            <a:ext cx="868680" cy="640080"/>
          </a:xfrm>
          <a:prstGeom prst="rect">
            <a:avLst/>
          </a:prstGeom>
          <a:solidFill>
            <a:srgbClr val="2F6B9A"/>
          </a:solidFill>
          <a:ln w="12700">
            <a:solidFill>
              <a:srgbClr val="FFFFFF"/>
            </a:solidFill>
            <a:prstDash val="solid"/>
          </a:ln>
        </p:spPr>
        <p:txBody>
          <a:bodyPr/>
          <a:lstStyle/>
          <a:p>
            <a:endParaRPr lang="en-US"/>
          </a:p>
        </p:txBody>
      </p:sp>
      <p:sp>
        <p:nvSpPr>
          <p:cNvPr id="5" name="Text 13"/>
          <p:cNvSpPr txBox="1"/>
          <p:nvPr/>
        </p:nvSpPr>
        <p:spPr>
          <a:xfrm>
            <a:off x="6309360" y="2286000"/>
            <a:ext cx="8686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1200" dirty="0"/>
          </a:p>
          <a:p>
            <a:pPr marL="0" indent="0" algn="ctr">
              <a:buNone/>
            </a:pPr>
            <a:r>
              <a:rPr lang="en-US" sz="900" dirty="0">
                <a:solidFill>
                  <a:srgbClr val="FFFFFF"/>
                </a:solidFill>
                <a:latin typeface="Calibri" pitchFamily="34" charset="0"/>
                <a:ea typeface="Calibri" pitchFamily="34" charset="-122"/>
                <a:cs typeface="Calibri" pitchFamily="34" charset="-120"/>
              </a:rPr>
              <a:t>TP</a:t>
            </a:r>
            <a:endParaRPr lang="en-US" sz="1200" dirty="0"/>
          </a:p>
        </p:txBody>
      </p:sp>
      <p:sp>
        <p:nvSpPr>
          <p:cNvPr id="18" name="Text 14"/>
          <p:cNvSpPr txBox="1"/>
          <p:nvPr/>
        </p:nvSpPr>
        <p:spPr>
          <a:xfrm>
            <a:off x="5394960" y="1371600"/>
            <a:ext cx="868680" cy="201168"/>
          </a:xfrm>
          <a:prstGeom prst="rect">
            <a:avLst/>
          </a:prstGeom>
          <a:noFill/>
          <a:ln/>
        </p:spPr>
        <p:txBody>
          <a:bodyPr wrap="square" lIns="0" tIns="0" rIns="0" bIns="0" rtlCol="0" anchor="t"/>
          <a:lstStyle/>
          <a:p>
            <a:pPr marL="0" indent="0" algn="ctr">
              <a:buNone/>
            </a:pPr>
            <a:r>
              <a:rPr lang="en-US" sz="900" dirty="0">
                <a:solidFill>
                  <a:srgbClr val="5B6B78"/>
                </a:solidFill>
                <a:latin typeface="Calibri" pitchFamily="34" charset="0"/>
                <a:ea typeface="Calibri" pitchFamily="34" charset="-122"/>
                <a:cs typeface="Calibri" pitchFamily="34" charset="-120"/>
              </a:rPr>
              <a:t>Pred: No</a:t>
            </a:r>
            <a:endParaRPr lang="en-US" sz="900" dirty="0"/>
          </a:p>
        </p:txBody>
      </p:sp>
      <p:sp>
        <p:nvSpPr>
          <p:cNvPr id="19" name="Text 15"/>
          <p:cNvSpPr txBox="1"/>
          <p:nvPr/>
        </p:nvSpPr>
        <p:spPr>
          <a:xfrm>
            <a:off x="6309360" y="1371600"/>
            <a:ext cx="868680" cy="201168"/>
          </a:xfrm>
          <a:prstGeom prst="rect">
            <a:avLst/>
          </a:prstGeom>
          <a:noFill/>
          <a:ln/>
        </p:spPr>
        <p:txBody>
          <a:bodyPr wrap="square" lIns="0" tIns="0" rIns="0" bIns="0" rtlCol="0" anchor="t"/>
          <a:lstStyle/>
          <a:p>
            <a:pPr marL="0" indent="0" algn="ctr">
              <a:buNone/>
            </a:pPr>
            <a:r>
              <a:rPr lang="en-US" sz="900" dirty="0">
                <a:solidFill>
                  <a:srgbClr val="5B6B78"/>
                </a:solidFill>
                <a:latin typeface="Calibri" pitchFamily="34" charset="0"/>
                <a:ea typeface="Calibri" pitchFamily="34" charset="-122"/>
                <a:cs typeface="Calibri" pitchFamily="34" charset="-120"/>
              </a:rPr>
              <a:t>Pred: Yes</a:t>
            </a:r>
            <a:endParaRPr lang="en-US" sz="900" dirty="0"/>
          </a:p>
        </p:txBody>
      </p:sp>
      <p:sp>
        <p:nvSpPr>
          <p:cNvPr id="20" name="Text 16"/>
          <p:cNvSpPr txBox="1"/>
          <p:nvPr/>
        </p:nvSpPr>
        <p:spPr>
          <a:xfrm>
            <a:off x="4800600" y="1600200"/>
            <a:ext cx="566928" cy="64008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Actual: No</a:t>
            </a:r>
            <a:endParaRPr lang="en-US" sz="900" dirty="0"/>
          </a:p>
        </p:txBody>
      </p:sp>
      <p:sp>
        <p:nvSpPr>
          <p:cNvPr id="21" name="Text 17"/>
          <p:cNvSpPr txBox="1"/>
          <p:nvPr/>
        </p:nvSpPr>
        <p:spPr>
          <a:xfrm>
            <a:off x="4800600" y="2286000"/>
            <a:ext cx="566928" cy="64008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Actual: Yes</a:t>
            </a:r>
            <a:endParaRPr lang="en-US" sz="900" dirty="0"/>
          </a:p>
        </p:txBody>
      </p:sp>
      <p:sp>
        <p:nvSpPr>
          <p:cNvPr id="22" name="Text 18"/>
          <p:cNvSpPr txBox="1"/>
          <p:nvPr/>
        </p:nvSpPr>
        <p:spPr>
          <a:xfrm>
            <a:off x="5074920" y="2991813"/>
            <a:ext cx="2377440" cy="228600"/>
          </a:xfrm>
          <a:prstGeom prst="rect">
            <a:avLst/>
          </a:prstGeom>
          <a:noFill/>
          <a:ln/>
        </p:spPr>
        <p:txBody>
          <a:bodyPr wrap="square" lIns="0" tIns="0" rIns="0" bIns="0" rtlCol="0" anchor="t"/>
          <a:lstStyle/>
          <a:p>
            <a:pPr marL="0" indent="0" algn="ctr">
              <a:buNone/>
            </a:pPr>
            <a:r>
              <a:rPr lang="en-US" sz="1200" b="1" dirty="0">
                <a:solidFill>
                  <a:schemeClr val="accent2">
                    <a:lumMod val="75000"/>
                  </a:schemeClr>
                </a:solidFill>
                <a:latin typeface="Calibri" pitchFamily="34" charset="0"/>
                <a:ea typeface="Calibri" pitchFamily="34" charset="-122"/>
                <a:cs typeface="Calibri" pitchFamily="34" charset="-120"/>
              </a:rPr>
              <a:t>Learned</a:t>
            </a:r>
            <a:endParaRPr lang="en-US" sz="1200" dirty="0">
              <a:solidFill>
                <a:schemeClr val="accent2">
                  <a:lumMod val="75000"/>
                </a:schemeClr>
              </a:solidFill>
            </a:endParaRPr>
          </a:p>
        </p:txBody>
      </p:sp>
      <p:sp>
        <p:nvSpPr>
          <p:cNvPr id="23" name="Shape 19"/>
          <p:cNvSpPr/>
          <p:nvPr/>
        </p:nvSpPr>
        <p:spPr>
          <a:xfrm>
            <a:off x="5394960" y="3383280"/>
            <a:ext cx="868680" cy="640080"/>
          </a:xfrm>
          <a:prstGeom prst="rect">
            <a:avLst/>
          </a:prstGeom>
          <a:solidFill>
            <a:srgbClr val="2F6B9A"/>
          </a:solidFill>
          <a:ln w="12700">
            <a:solidFill>
              <a:srgbClr val="FFFFFF"/>
            </a:solidFill>
            <a:prstDash val="solid"/>
          </a:ln>
        </p:spPr>
        <p:txBody>
          <a:bodyPr/>
          <a:lstStyle/>
          <a:p>
            <a:endParaRPr lang="en-US"/>
          </a:p>
        </p:txBody>
      </p:sp>
      <p:sp>
        <p:nvSpPr>
          <p:cNvPr id="24" name="Text 20"/>
          <p:cNvSpPr txBox="1"/>
          <p:nvPr/>
        </p:nvSpPr>
        <p:spPr>
          <a:xfrm>
            <a:off x="5394960" y="3383280"/>
            <a:ext cx="8686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29</a:t>
            </a:r>
            <a:endParaRPr lang="en-US" sz="1200" dirty="0"/>
          </a:p>
          <a:p>
            <a:pPr marL="0" indent="0" algn="ctr">
              <a:buNone/>
            </a:pPr>
            <a:r>
              <a:rPr lang="en-US" sz="900" dirty="0">
                <a:solidFill>
                  <a:srgbClr val="FFFFFF"/>
                </a:solidFill>
                <a:latin typeface="Calibri" pitchFamily="34" charset="0"/>
                <a:ea typeface="Calibri" pitchFamily="34" charset="-122"/>
                <a:cs typeface="Calibri" pitchFamily="34" charset="-120"/>
              </a:rPr>
              <a:t>TN</a:t>
            </a:r>
            <a:endParaRPr lang="en-US" sz="1200" dirty="0"/>
          </a:p>
        </p:txBody>
      </p:sp>
      <p:sp>
        <p:nvSpPr>
          <p:cNvPr id="25" name="Shape 21"/>
          <p:cNvSpPr/>
          <p:nvPr/>
        </p:nvSpPr>
        <p:spPr>
          <a:xfrm>
            <a:off x="6309360" y="3383280"/>
            <a:ext cx="868680" cy="640080"/>
          </a:xfrm>
          <a:prstGeom prst="rect">
            <a:avLst/>
          </a:prstGeom>
          <a:solidFill>
            <a:srgbClr val="F1BD84"/>
          </a:solidFill>
          <a:ln w="12700">
            <a:solidFill>
              <a:srgbClr val="FFFFFF"/>
            </a:solidFill>
            <a:prstDash val="solid"/>
          </a:ln>
        </p:spPr>
        <p:txBody>
          <a:bodyPr/>
          <a:lstStyle/>
          <a:p>
            <a:endParaRPr lang="en-US"/>
          </a:p>
        </p:txBody>
      </p:sp>
      <p:sp>
        <p:nvSpPr>
          <p:cNvPr id="26" name="Text 22"/>
          <p:cNvSpPr txBox="1"/>
          <p:nvPr/>
        </p:nvSpPr>
        <p:spPr>
          <a:xfrm>
            <a:off x="6309360" y="3383280"/>
            <a:ext cx="868680" cy="640080"/>
          </a:xfrm>
          <a:prstGeom prst="rect">
            <a:avLst/>
          </a:prstGeom>
          <a:noFill/>
          <a:ln/>
        </p:spPr>
        <p:txBody>
          <a:bodyPr wrap="square" lIns="0" tIns="0" rIns="0" bIns="0" rtlCol="0" anchor="ctr"/>
          <a:lstStyle/>
          <a:p>
            <a:pPr marL="0" indent="0" algn="ctr">
              <a:buNone/>
            </a:pPr>
            <a:r>
              <a:rPr lang="en-US" sz="2000" b="1" dirty="0">
                <a:solidFill>
                  <a:srgbClr val="263238"/>
                </a:solidFill>
                <a:latin typeface="Calibri" pitchFamily="34" charset="0"/>
                <a:ea typeface="Calibri" pitchFamily="34" charset="-122"/>
                <a:cs typeface="Calibri" pitchFamily="34" charset="-120"/>
              </a:rPr>
              <a:t>4</a:t>
            </a:r>
            <a:endParaRPr lang="en-US" sz="1200" dirty="0"/>
          </a:p>
          <a:p>
            <a:pPr marL="0" indent="0" algn="ctr">
              <a:buNone/>
            </a:pPr>
            <a:r>
              <a:rPr lang="en-US" sz="900" dirty="0">
                <a:solidFill>
                  <a:srgbClr val="263238"/>
                </a:solidFill>
                <a:latin typeface="Calibri" pitchFamily="34" charset="0"/>
                <a:ea typeface="Calibri" pitchFamily="34" charset="-122"/>
                <a:cs typeface="Calibri" pitchFamily="34" charset="-120"/>
              </a:rPr>
              <a:t>FP</a:t>
            </a:r>
            <a:endParaRPr lang="en-US" sz="1200" dirty="0"/>
          </a:p>
        </p:txBody>
      </p:sp>
      <p:sp>
        <p:nvSpPr>
          <p:cNvPr id="27" name="Shape 23"/>
          <p:cNvSpPr/>
          <p:nvPr/>
        </p:nvSpPr>
        <p:spPr>
          <a:xfrm>
            <a:off x="5394960" y="4069080"/>
            <a:ext cx="868680" cy="640080"/>
          </a:xfrm>
          <a:prstGeom prst="rect">
            <a:avLst/>
          </a:prstGeom>
          <a:solidFill>
            <a:srgbClr val="F1BD84"/>
          </a:solidFill>
          <a:ln w="12700">
            <a:solidFill>
              <a:srgbClr val="FFFFFF"/>
            </a:solidFill>
            <a:prstDash val="solid"/>
          </a:ln>
        </p:spPr>
        <p:txBody>
          <a:bodyPr/>
          <a:lstStyle/>
          <a:p>
            <a:endParaRPr lang="en-US"/>
          </a:p>
        </p:txBody>
      </p:sp>
      <p:sp>
        <p:nvSpPr>
          <p:cNvPr id="28" name="Text 24"/>
          <p:cNvSpPr txBox="1"/>
          <p:nvPr/>
        </p:nvSpPr>
        <p:spPr>
          <a:xfrm>
            <a:off x="5394960" y="4069080"/>
            <a:ext cx="868680" cy="640080"/>
          </a:xfrm>
          <a:prstGeom prst="rect">
            <a:avLst/>
          </a:prstGeom>
          <a:noFill/>
          <a:ln/>
        </p:spPr>
        <p:txBody>
          <a:bodyPr wrap="square" lIns="0" tIns="0" rIns="0" bIns="0" rtlCol="0" anchor="ctr"/>
          <a:lstStyle/>
          <a:p>
            <a:pPr marL="0" indent="0" algn="ctr">
              <a:buNone/>
            </a:pPr>
            <a:r>
              <a:rPr lang="en-US" sz="2000" b="1" dirty="0">
                <a:solidFill>
                  <a:srgbClr val="263238"/>
                </a:solidFill>
                <a:latin typeface="Calibri" pitchFamily="34" charset="0"/>
                <a:ea typeface="Calibri" pitchFamily="34" charset="-122"/>
                <a:cs typeface="Calibri" pitchFamily="34" charset="-120"/>
              </a:rPr>
              <a:t>4</a:t>
            </a:r>
            <a:endParaRPr lang="en-US" sz="1200" dirty="0"/>
          </a:p>
          <a:p>
            <a:pPr marL="0" indent="0" algn="ctr">
              <a:buNone/>
            </a:pPr>
            <a:r>
              <a:rPr lang="en-US" sz="900" dirty="0">
                <a:solidFill>
                  <a:srgbClr val="263238"/>
                </a:solidFill>
                <a:latin typeface="Calibri" pitchFamily="34" charset="0"/>
                <a:ea typeface="Calibri" pitchFamily="34" charset="-122"/>
                <a:cs typeface="Calibri" pitchFamily="34" charset="-120"/>
              </a:rPr>
              <a:t>FN</a:t>
            </a:r>
            <a:endParaRPr lang="en-US" sz="1200" dirty="0"/>
          </a:p>
        </p:txBody>
      </p:sp>
      <p:sp>
        <p:nvSpPr>
          <p:cNvPr id="29" name="Shape 25"/>
          <p:cNvSpPr/>
          <p:nvPr/>
        </p:nvSpPr>
        <p:spPr>
          <a:xfrm>
            <a:off x="6309360" y="4069080"/>
            <a:ext cx="868680" cy="640080"/>
          </a:xfrm>
          <a:prstGeom prst="rect">
            <a:avLst/>
          </a:prstGeom>
          <a:solidFill>
            <a:srgbClr val="2F6B9A"/>
          </a:solidFill>
          <a:ln w="12700">
            <a:solidFill>
              <a:srgbClr val="FFFFFF"/>
            </a:solidFill>
            <a:prstDash val="solid"/>
          </a:ln>
        </p:spPr>
        <p:txBody>
          <a:bodyPr/>
          <a:lstStyle/>
          <a:p>
            <a:endParaRPr lang="en-US"/>
          </a:p>
        </p:txBody>
      </p:sp>
      <p:sp>
        <p:nvSpPr>
          <p:cNvPr id="30" name="Text 26"/>
          <p:cNvSpPr txBox="1"/>
          <p:nvPr/>
        </p:nvSpPr>
        <p:spPr>
          <a:xfrm>
            <a:off x="6309360" y="4069080"/>
            <a:ext cx="8686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a:t>
            </a:r>
            <a:endParaRPr lang="en-US" sz="1200" dirty="0"/>
          </a:p>
          <a:p>
            <a:pPr marL="0" indent="0" algn="ctr">
              <a:buNone/>
            </a:pPr>
            <a:r>
              <a:rPr lang="en-US" sz="900" dirty="0">
                <a:solidFill>
                  <a:srgbClr val="FFFFFF"/>
                </a:solidFill>
                <a:latin typeface="Calibri" pitchFamily="34" charset="0"/>
                <a:ea typeface="Calibri" pitchFamily="34" charset="-122"/>
                <a:cs typeface="Calibri" pitchFamily="34" charset="-120"/>
              </a:rPr>
              <a:t>TP</a:t>
            </a:r>
            <a:endParaRPr lang="en-US" sz="1200" dirty="0"/>
          </a:p>
        </p:txBody>
      </p:sp>
      <p:sp>
        <p:nvSpPr>
          <p:cNvPr id="31" name="Text 27"/>
          <p:cNvSpPr txBox="1"/>
          <p:nvPr/>
        </p:nvSpPr>
        <p:spPr>
          <a:xfrm>
            <a:off x="5394960" y="3154680"/>
            <a:ext cx="868680" cy="201168"/>
          </a:xfrm>
          <a:prstGeom prst="rect">
            <a:avLst/>
          </a:prstGeom>
          <a:noFill/>
          <a:ln/>
        </p:spPr>
        <p:txBody>
          <a:bodyPr wrap="square" lIns="0" tIns="0" rIns="0" bIns="0" rtlCol="0" anchor="t"/>
          <a:lstStyle/>
          <a:p>
            <a:pPr marL="0" indent="0" algn="ctr">
              <a:buNone/>
            </a:pPr>
            <a:r>
              <a:rPr lang="en-US" sz="900" dirty="0">
                <a:solidFill>
                  <a:srgbClr val="5B6B78"/>
                </a:solidFill>
                <a:latin typeface="Calibri" pitchFamily="34" charset="0"/>
                <a:ea typeface="Calibri" pitchFamily="34" charset="-122"/>
                <a:cs typeface="Calibri" pitchFamily="34" charset="-120"/>
              </a:rPr>
              <a:t>Pred: No</a:t>
            </a:r>
            <a:endParaRPr lang="en-US" sz="900" dirty="0"/>
          </a:p>
        </p:txBody>
      </p:sp>
      <p:sp>
        <p:nvSpPr>
          <p:cNvPr id="32" name="Text 28"/>
          <p:cNvSpPr txBox="1"/>
          <p:nvPr/>
        </p:nvSpPr>
        <p:spPr>
          <a:xfrm>
            <a:off x="6309360" y="3154680"/>
            <a:ext cx="868680" cy="201168"/>
          </a:xfrm>
          <a:prstGeom prst="rect">
            <a:avLst/>
          </a:prstGeom>
          <a:noFill/>
          <a:ln/>
        </p:spPr>
        <p:txBody>
          <a:bodyPr wrap="square" lIns="0" tIns="0" rIns="0" bIns="0" rtlCol="0" anchor="t"/>
          <a:lstStyle/>
          <a:p>
            <a:pPr marL="0" indent="0" algn="ctr">
              <a:buNone/>
            </a:pPr>
            <a:r>
              <a:rPr lang="en-US" sz="900" dirty="0">
                <a:solidFill>
                  <a:srgbClr val="5B6B78"/>
                </a:solidFill>
                <a:latin typeface="Calibri" pitchFamily="34" charset="0"/>
                <a:ea typeface="Calibri" pitchFamily="34" charset="-122"/>
                <a:cs typeface="Calibri" pitchFamily="34" charset="-120"/>
              </a:rPr>
              <a:t>Pred: Yes</a:t>
            </a:r>
            <a:endParaRPr lang="en-US" sz="900" dirty="0"/>
          </a:p>
        </p:txBody>
      </p:sp>
      <p:sp>
        <p:nvSpPr>
          <p:cNvPr id="33" name="Text 29"/>
          <p:cNvSpPr txBox="1"/>
          <p:nvPr/>
        </p:nvSpPr>
        <p:spPr>
          <a:xfrm>
            <a:off x="4800600" y="3383280"/>
            <a:ext cx="566928" cy="64008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Actual: No</a:t>
            </a:r>
            <a:endParaRPr lang="en-US" sz="900" dirty="0"/>
          </a:p>
        </p:txBody>
      </p:sp>
      <p:sp>
        <p:nvSpPr>
          <p:cNvPr id="34" name="Text 30"/>
          <p:cNvSpPr txBox="1"/>
          <p:nvPr/>
        </p:nvSpPr>
        <p:spPr>
          <a:xfrm>
            <a:off x="4800600" y="4069080"/>
            <a:ext cx="566928" cy="64008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Actual: Yes</a:t>
            </a:r>
            <a:endParaRPr lang="en-US" sz="900" dirty="0"/>
          </a:p>
        </p:txBody>
      </p:sp>
      <p:sp>
        <p:nvSpPr>
          <p:cNvPr id="35" name="Text 31"/>
          <p:cNvSpPr txBox="1"/>
          <p:nvPr/>
        </p:nvSpPr>
        <p:spPr>
          <a:xfrm>
            <a:off x="7287928" y="2072258"/>
            <a:ext cx="1288983" cy="384620"/>
          </a:xfrm>
          <a:prstGeom prst="rect">
            <a:avLst/>
          </a:prstGeom>
          <a:noFill/>
          <a:ln/>
        </p:spPr>
        <p:txBody>
          <a:bodyPr wrap="square" lIns="0" tIns="0" rIns="0" bIns="0" rtlCol="0" anchor="t"/>
          <a:lstStyle/>
          <a:p>
            <a:pPr>
              <a:defRPr sz="2175" b="1">
                <a:solidFill>
                  <a:srgbClr val="2F6B9A"/>
                </a:solidFill>
                <a:latin typeface="Helvetica Neue"/>
                <a:ea typeface="Helvetica Neue"/>
                <a:cs typeface="Helvetica Neue"/>
              </a:defRPr>
            </a:pPr>
            <a:r>
              <a:rPr lang="en-ZA" sz="1000" b="1" dirty="0">
                <a:solidFill>
                  <a:srgbClr val="2F6B9A"/>
                </a:solidFill>
                <a:latin typeface="Helvetica Neue"/>
                <a:ea typeface="Helvetica Neue"/>
                <a:cs typeface="Helvetica Neue"/>
              </a:rPr>
              <a:t>3 missed cases, 6 false alarms</a:t>
            </a:r>
          </a:p>
          <a:p>
            <a:pPr marL="0" indent="0">
              <a:buNone/>
            </a:pPr>
            <a:endParaRPr lang="en-US" sz="950" dirty="0"/>
          </a:p>
        </p:txBody>
      </p:sp>
      <p:sp>
        <p:nvSpPr>
          <p:cNvPr id="6" name="TextBox 5">
            <a:extLst>
              <a:ext uri="{FF2B5EF4-FFF2-40B4-BE49-F238E27FC236}">
                <a16:creationId xmlns:a16="http://schemas.microsoft.com/office/drawing/2014/main" id="{0A2DCF5E-2C77-B003-56B9-5538573AFF92}"/>
              </a:ext>
            </a:extLst>
          </p:cNvPr>
          <p:cNvSpPr txBox="1"/>
          <p:nvPr/>
        </p:nvSpPr>
        <p:spPr>
          <a:xfrm>
            <a:off x="7287928" y="3703320"/>
            <a:ext cx="1288983" cy="707886"/>
          </a:xfrm>
          <a:prstGeom prst="rect">
            <a:avLst/>
          </a:prstGeom>
          <a:noFill/>
        </p:spPr>
        <p:txBody>
          <a:bodyPr wrap="square" rtlCol="0">
            <a:spAutoFit/>
          </a:bodyPr>
          <a:lstStyle/>
          <a:p>
            <a:r>
              <a:rPr lang="en-ZA" sz="1100" b="1" dirty="0">
                <a:solidFill>
                  <a:srgbClr val="D17C35"/>
                </a:solidFill>
                <a:ea typeface="Helvetica Neue"/>
                <a:cs typeface="Helvetica Neue"/>
              </a:rPr>
              <a:t>4 missed cases, 4 false alarms</a:t>
            </a:r>
          </a:p>
          <a:p>
            <a:endParaRPr lang="en-US" dirty="0"/>
          </a:p>
        </p:txBody>
      </p:sp>
      <p:sp>
        <p:nvSpPr>
          <p:cNvPr id="36" name="TextBox 35">
            <a:extLst>
              <a:ext uri="{FF2B5EF4-FFF2-40B4-BE49-F238E27FC236}">
                <a16:creationId xmlns:a16="http://schemas.microsoft.com/office/drawing/2014/main" id="{27574CF0-068C-35CC-D759-3D05F8FACAF9}"/>
              </a:ext>
            </a:extLst>
          </p:cNvPr>
          <p:cNvSpPr txBox="1"/>
          <p:nvPr/>
        </p:nvSpPr>
        <p:spPr>
          <a:xfrm>
            <a:off x="347311" y="4270248"/>
            <a:ext cx="3931920" cy="707886"/>
          </a:xfrm>
          <a:prstGeom prst="rect">
            <a:avLst/>
          </a:prstGeom>
          <a:noFill/>
        </p:spPr>
        <p:txBody>
          <a:bodyPr wrap="square" rtlCol="0">
            <a:spAutoFit/>
          </a:bodyPr>
          <a:lstStyle/>
          <a:p>
            <a:r>
              <a:rPr lang="en-ZA" sz="1100" b="1" dirty="0">
                <a:solidFill>
                  <a:srgbClr val="2F6B9A"/>
                </a:solidFill>
                <a:ea typeface="Helvetica Neue"/>
                <a:cs typeface="Helvetica Neue"/>
              </a:rPr>
              <a:t>Expert detects 25 of 28 disease cases. Learned correctly rejects 29 of 33 non-disease cases.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B"/>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16324F"/>
                </a:solidFill>
                <a:latin typeface="Cambria" pitchFamily="34" charset="0"/>
                <a:ea typeface="Cambria" pitchFamily="34" charset="-122"/>
                <a:cs typeface="Cambria" pitchFamily="34" charset="-120"/>
              </a:rPr>
              <a:t>Ranking Quality and Uncertainty</a:t>
            </a:r>
            <a:endParaRPr lang="en-US" sz="26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marL="0" indent="0">
              <a:buNone/>
            </a:pPr>
            <a:r>
              <a:rPr lang="en-US" sz="900" dirty="0">
                <a:solidFill>
                  <a:srgbClr val="5B6B78"/>
                </a:solidFill>
                <a:latin typeface="Calibri" pitchFamily="34" charset="0"/>
                <a:ea typeface="Calibri" pitchFamily="34" charset="-122"/>
                <a:cs typeface="Calibri" pitchFamily="34" charset="-120"/>
              </a:rPr>
              <a:t>EDAB 6824  |  Bayesian Networks for Heart Disease Prediction</a:t>
            </a:r>
            <a:endParaRPr lang="en-US" sz="9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marL="0" indent="0" algn="r">
              <a:buNone/>
            </a:pPr>
            <a:r>
              <a:rPr lang="en-US" sz="900" dirty="0">
                <a:solidFill>
                  <a:srgbClr val="5B6B78"/>
                </a:solidFill>
                <a:latin typeface="Calibri" pitchFamily="34" charset="0"/>
                <a:ea typeface="Calibri" pitchFamily="34" charset="-122"/>
                <a:cs typeface="Calibri" pitchFamily="34" charset="-120"/>
              </a:rPr>
              <a:t>17</a:t>
            </a:r>
            <a:endParaRPr lang="en-US" sz="900" dirty="0"/>
          </a:p>
        </p:txBody>
      </p:sp>
      <p:sp>
        <p:nvSpPr>
          <p:cNvPr id="6" name="Shape 3"/>
          <p:cNvSpPr/>
          <p:nvPr/>
        </p:nvSpPr>
        <p:spPr>
          <a:xfrm>
            <a:off x="457200" y="960120"/>
            <a:ext cx="5486400" cy="2514600"/>
          </a:xfrm>
          <a:prstGeom prst="roundRect">
            <a:avLst>
              <a:gd name="adj" fmla="val 290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pic>
        <p:nvPicPr>
          <p:cNvPr id="7" name="Image 0" descr="/home/claude/img/c38_2.png"/>
          <p:cNvPicPr>
            <a:picLocks noChangeAspect="1"/>
          </p:cNvPicPr>
          <p:nvPr/>
        </p:nvPicPr>
        <p:blipFill>
          <a:blip r:embed="rId3"/>
          <a:stretch>
            <a:fillRect/>
          </a:stretch>
        </p:blipFill>
        <p:spPr>
          <a:xfrm>
            <a:off x="548640" y="1051560"/>
            <a:ext cx="5303520" cy="2256252"/>
          </a:xfrm>
          <a:prstGeom prst="rect">
            <a:avLst/>
          </a:prstGeom>
        </p:spPr>
      </p:pic>
      <p:sp>
        <p:nvSpPr>
          <p:cNvPr id="8" name="Shape 4"/>
          <p:cNvSpPr/>
          <p:nvPr/>
        </p:nvSpPr>
        <p:spPr>
          <a:xfrm>
            <a:off x="6126480" y="960120"/>
            <a:ext cx="2560320" cy="1143000"/>
          </a:xfrm>
          <a:prstGeom prst="roundRect">
            <a:avLst>
              <a:gd name="adj" fmla="val 6400"/>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9" name="Text 5"/>
          <p:cNvSpPr txBox="1"/>
          <p:nvPr/>
        </p:nvSpPr>
        <p:spPr>
          <a:xfrm>
            <a:off x="6217920" y="1051560"/>
            <a:ext cx="2377440" cy="571500"/>
          </a:xfrm>
          <a:prstGeom prst="rect">
            <a:avLst/>
          </a:prstGeom>
          <a:noFill/>
          <a:ln/>
        </p:spPr>
        <p:txBody>
          <a:bodyPr wrap="square" lIns="0" tIns="0" rIns="0" bIns="0" rtlCol="0" anchor="ctr"/>
          <a:lstStyle/>
          <a:p>
            <a:pPr marL="0" indent="0" algn="ctr">
              <a:buNone/>
            </a:pPr>
            <a:r>
              <a:rPr lang="en-US" sz="3000" b="1" dirty="0">
                <a:solidFill>
                  <a:srgbClr val="D17C35"/>
                </a:solidFill>
                <a:latin typeface="Cambria" pitchFamily="34" charset="0"/>
                <a:ea typeface="Cambria" pitchFamily="34" charset="-122"/>
                <a:cs typeface="Cambria" pitchFamily="34" charset="-120"/>
              </a:rPr>
              <a:t>-0.021</a:t>
            </a:r>
            <a:endParaRPr lang="en-US" sz="3000" dirty="0"/>
          </a:p>
        </p:txBody>
      </p:sp>
      <p:sp>
        <p:nvSpPr>
          <p:cNvPr id="10" name="Text 6"/>
          <p:cNvSpPr txBox="1"/>
          <p:nvPr/>
        </p:nvSpPr>
        <p:spPr>
          <a:xfrm>
            <a:off x="6236208" y="1623060"/>
            <a:ext cx="2340864" cy="434340"/>
          </a:xfrm>
          <a:prstGeom prst="rect">
            <a:avLst/>
          </a:prstGeom>
          <a:noFill/>
          <a:ln/>
        </p:spPr>
        <p:txBody>
          <a:bodyPr wrap="square" lIns="0" tIns="0" rIns="0" bIns="0" rtlCol="0" anchor="t"/>
          <a:lstStyle/>
          <a:p>
            <a:pPr marL="0" indent="0" algn="ctr">
              <a:buNone/>
            </a:pPr>
            <a:r>
              <a:rPr lang="en-US" sz="1100" dirty="0">
                <a:solidFill>
                  <a:srgbClr val="5B6B78"/>
                </a:solidFill>
                <a:latin typeface="Calibri" pitchFamily="34" charset="0"/>
                <a:ea typeface="Calibri" pitchFamily="34" charset="-122"/>
                <a:cs typeface="Calibri" pitchFamily="34" charset="-120"/>
              </a:rPr>
              <a:t>learned minus expert ROC-AUC</a:t>
            </a:r>
            <a:endParaRPr lang="en-US" sz="1100" dirty="0"/>
          </a:p>
        </p:txBody>
      </p:sp>
      <p:sp>
        <p:nvSpPr>
          <p:cNvPr id="11" name="Shape 7"/>
          <p:cNvSpPr/>
          <p:nvPr/>
        </p:nvSpPr>
        <p:spPr>
          <a:xfrm>
            <a:off x="6126480" y="2240280"/>
            <a:ext cx="2560320" cy="1234440"/>
          </a:xfrm>
          <a:prstGeom prst="roundRect">
            <a:avLst>
              <a:gd name="adj" fmla="val 5926"/>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2" name="Text 8"/>
          <p:cNvSpPr txBox="1"/>
          <p:nvPr/>
        </p:nvSpPr>
        <p:spPr>
          <a:xfrm>
            <a:off x="6263640" y="2313432"/>
            <a:ext cx="2286000" cy="274320"/>
          </a:xfrm>
          <a:prstGeom prst="rect">
            <a:avLst/>
          </a:prstGeom>
          <a:noFill/>
          <a:ln/>
        </p:spPr>
        <p:txBody>
          <a:bodyPr wrap="square" lIns="0" tIns="0" rIns="0" bIns="0" rtlCol="0" anchor="t"/>
          <a:lstStyle/>
          <a:p>
            <a:pPr marL="0" indent="0">
              <a:buNone/>
            </a:pPr>
            <a:r>
              <a:rPr lang="en-US" sz="1200" b="1" dirty="0">
                <a:solidFill>
                  <a:srgbClr val="16324F"/>
                </a:solidFill>
                <a:latin typeface="Calibri" pitchFamily="34" charset="0"/>
                <a:ea typeface="Calibri" pitchFamily="34" charset="-122"/>
                <a:cs typeface="Calibri" pitchFamily="34" charset="-120"/>
              </a:rPr>
              <a:t>Paired bootstrap 95% CI</a:t>
            </a:r>
            <a:endParaRPr lang="en-US" sz="1200" dirty="0"/>
          </a:p>
        </p:txBody>
      </p:sp>
      <p:sp>
        <p:nvSpPr>
          <p:cNvPr id="13" name="Text 9"/>
          <p:cNvSpPr txBox="1"/>
          <p:nvPr/>
        </p:nvSpPr>
        <p:spPr>
          <a:xfrm>
            <a:off x="6263640" y="2606040"/>
            <a:ext cx="2286000" cy="822960"/>
          </a:xfrm>
          <a:prstGeom prst="rect">
            <a:avLst/>
          </a:prstGeom>
          <a:noFill/>
          <a:ln/>
        </p:spPr>
        <p:txBody>
          <a:bodyPr wrap="square" lIns="0" tIns="0" rIns="0" bIns="0" rtlCol="0" anchor="t"/>
          <a:lstStyle/>
          <a:p>
            <a:pPr marL="0" indent="0">
              <a:buNone/>
            </a:pPr>
            <a:r>
              <a:rPr lang="en-US" sz="1100" dirty="0">
                <a:solidFill>
                  <a:srgbClr val="263238"/>
                </a:solidFill>
                <a:latin typeface="Calibri" pitchFamily="34" charset="0"/>
                <a:ea typeface="Calibri" pitchFamily="34" charset="-122"/>
                <a:cs typeface="Calibri" pitchFamily="34" charset="-120"/>
              </a:rPr>
              <a:t>[-0.098, +0.039] includes zero: no reliable ranking advantage.</a:t>
            </a:r>
            <a:endParaRPr lang="en-US" sz="1100" dirty="0"/>
          </a:p>
        </p:txBody>
      </p:sp>
      <p:sp>
        <p:nvSpPr>
          <p:cNvPr id="14" name="Shape 10"/>
          <p:cNvSpPr/>
          <p:nvPr/>
        </p:nvSpPr>
        <p:spPr>
          <a:xfrm>
            <a:off x="457200" y="3657600"/>
            <a:ext cx="8229600" cy="960120"/>
          </a:xfrm>
          <a:prstGeom prst="roundRect">
            <a:avLst>
              <a:gd name="adj" fmla="val 7619"/>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15" name="Text 11"/>
          <p:cNvSpPr txBox="1"/>
          <p:nvPr/>
        </p:nvSpPr>
        <p:spPr>
          <a:xfrm>
            <a:off x="640080" y="3749040"/>
            <a:ext cx="7863840" cy="777240"/>
          </a:xfrm>
          <a:prstGeom prst="rect">
            <a:avLst/>
          </a:prstGeom>
          <a:noFill/>
          <a:ln/>
        </p:spPr>
        <p:txBody>
          <a:bodyPr wrap="square" lIns="0" tIns="0" rIns="0" bIns="0" rtlCol="0" anchor="t"/>
          <a:lstStyle/>
          <a:p>
            <a:pPr marL="0" indent="0">
              <a:buNone/>
            </a:pPr>
            <a:r>
              <a:rPr lang="en-US" sz="1150" dirty="0">
                <a:solidFill>
                  <a:srgbClr val="16324F"/>
                </a:solidFill>
                <a:latin typeface="Calibri" pitchFamily="34" charset="0"/>
                <a:ea typeface="Calibri" pitchFamily="34" charset="-122"/>
                <a:cs typeface="Calibri" pitchFamily="34" charset="-120"/>
              </a:rPr>
              <a:t>Both AUCs are high (0.94 and 0.92), so posterior probabilities rank patients well. Expert leads on point estimates of AUC, AP and Brier; learned leads on threshold metrics. The 61-patient test set cannot separate them.</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324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Conclusion: Performance vs Interpretability</a:t>
            </a:r>
            <a:endParaRPr lang="en-US" sz="2600" dirty="0"/>
          </a:p>
        </p:txBody>
      </p:sp>
      <p:sp>
        <p:nvSpPr>
          <p:cNvPr id="4" name="Shape 1"/>
          <p:cNvSpPr/>
          <p:nvPr/>
        </p:nvSpPr>
        <p:spPr>
          <a:xfrm>
            <a:off x="457200" y="960120"/>
            <a:ext cx="3977640" cy="1197293"/>
          </a:xfrm>
          <a:prstGeom prst="roundRect">
            <a:avLst>
              <a:gd name="adj" fmla="val 340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5" name="Text 2"/>
          <p:cNvSpPr txBox="1"/>
          <p:nvPr/>
        </p:nvSpPr>
        <p:spPr>
          <a:xfrm>
            <a:off x="640080" y="1024128"/>
            <a:ext cx="3657600" cy="274320"/>
          </a:xfrm>
          <a:prstGeom prst="rect">
            <a:avLst/>
          </a:prstGeom>
          <a:noFill/>
          <a:ln/>
        </p:spPr>
        <p:txBody>
          <a:bodyPr wrap="square" lIns="0" tIns="0" rIns="0" bIns="0" rtlCol="0" anchor="t"/>
          <a:lstStyle/>
          <a:p>
            <a:pPr marL="0" indent="0">
              <a:buNone/>
            </a:pPr>
            <a:r>
              <a:rPr lang="en-US" sz="1400" b="1" dirty="0">
                <a:solidFill>
                  <a:srgbClr val="2F6B9A"/>
                </a:solidFill>
                <a:latin typeface="Calibri" pitchFamily="34" charset="0"/>
                <a:ea typeface="Calibri" pitchFamily="34" charset="-122"/>
                <a:cs typeface="Calibri" pitchFamily="34" charset="-120"/>
              </a:rPr>
              <a:t>Expert DAG</a:t>
            </a:r>
            <a:endParaRPr lang="en-US" sz="1400" dirty="0"/>
          </a:p>
        </p:txBody>
      </p:sp>
      <p:sp>
        <p:nvSpPr>
          <p:cNvPr id="6" name="Text 3"/>
          <p:cNvSpPr txBox="1"/>
          <p:nvPr/>
        </p:nvSpPr>
        <p:spPr>
          <a:xfrm>
            <a:off x="640080" y="13258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Higher ROC-AUC (0.939), AP, recall</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Clear clinical story</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But 194 parameters and 39 unseen configurations</a:t>
            </a:r>
            <a:endParaRPr lang="en-US" sz="1100" dirty="0"/>
          </a:p>
        </p:txBody>
      </p:sp>
      <p:sp>
        <p:nvSpPr>
          <p:cNvPr id="7" name="Shape 4"/>
          <p:cNvSpPr/>
          <p:nvPr/>
        </p:nvSpPr>
        <p:spPr>
          <a:xfrm>
            <a:off x="4709160" y="960120"/>
            <a:ext cx="3977640" cy="1197293"/>
          </a:xfrm>
          <a:prstGeom prst="roundRect">
            <a:avLst>
              <a:gd name="adj" fmla="val 3404"/>
            </a:avLst>
          </a:prstGeom>
          <a:solidFill>
            <a:srgbClr val="FFFFFF"/>
          </a:solidFill>
          <a:ln w="12700">
            <a:solidFill>
              <a:srgbClr val="FFFFFF"/>
            </a:solidFill>
            <a:prstDash val="solid"/>
          </a:ln>
          <a:effectLst>
            <a:outerShdw blurRad="76200" dist="19050" dir="5400000" algn="bl" rotWithShape="0">
              <a:srgbClr val="000000">
                <a:alpha val="12000"/>
              </a:srgbClr>
            </a:outerShdw>
          </a:effectLst>
        </p:spPr>
        <p:txBody>
          <a:bodyPr/>
          <a:lstStyle/>
          <a:p>
            <a:endParaRPr lang="en-US"/>
          </a:p>
        </p:txBody>
      </p:sp>
      <p:sp>
        <p:nvSpPr>
          <p:cNvPr id="8" name="Text 5"/>
          <p:cNvSpPr txBox="1"/>
          <p:nvPr/>
        </p:nvSpPr>
        <p:spPr>
          <a:xfrm>
            <a:off x="4892040" y="1024128"/>
            <a:ext cx="3657600" cy="274320"/>
          </a:xfrm>
          <a:prstGeom prst="rect">
            <a:avLst/>
          </a:prstGeom>
          <a:noFill/>
          <a:ln/>
        </p:spPr>
        <p:txBody>
          <a:bodyPr wrap="square" lIns="0" tIns="0" rIns="0" bIns="0" rtlCol="0" anchor="t"/>
          <a:lstStyle/>
          <a:p>
            <a:pPr marL="0" indent="0">
              <a:buNone/>
            </a:pPr>
            <a:r>
              <a:rPr lang="en-US" sz="1400" b="1" dirty="0">
                <a:solidFill>
                  <a:srgbClr val="D17C35"/>
                </a:solidFill>
                <a:latin typeface="Calibri" pitchFamily="34" charset="0"/>
                <a:ea typeface="Calibri" pitchFamily="34" charset="-122"/>
                <a:cs typeface="Calibri" pitchFamily="34" charset="-120"/>
              </a:rPr>
              <a:t>Learned DAG</a:t>
            </a:r>
            <a:endParaRPr lang="en-US" sz="1400" dirty="0"/>
          </a:p>
        </p:txBody>
      </p:sp>
      <p:sp>
        <p:nvSpPr>
          <p:cNvPr id="9" name="Text 6"/>
          <p:cNvSpPr txBox="1"/>
          <p:nvPr/>
        </p:nvSpPr>
        <p:spPr>
          <a:xfrm>
            <a:off x="4892040" y="1325880"/>
            <a:ext cx="3657600" cy="17373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Higher accuracy (86.9%), precision, F1</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Only 57 parameters, stable to smoothing</a:t>
            </a:r>
            <a:endParaRPr lang="en-US" sz="1100" dirty="0"/>
          </a:p>
          <a:p>
            <a:pPr marL="342900" indent="-342900">
              <a:spcAft>
                <a:spcPts val="500"/>
              </a:spcAft>
              <a:buSzPct val="100000"/>
              <a:buChar char="•"/>
            </a:pPr>
            <a:r>
              <a:rPr lang="en-US" sz="1100" dirty="0">
                <a:solidFill>
                  <a:srgbClr val="263238"/>
                </a:solidFill>
                <a:latin typeface="Calibri" pitchFamily="34" charset="0"/>
                <a:ea typeface="Calibri" pitchFamily="34" charset="-122"/>
                <a:cs typeface="Calibri" pitchFamily="34" charset="-120"/>
              </a:rPr>
              <a:t>But arrows into age and sex are not clinically credible</a:t>
            </a:r>
            <a:endParaRPr lang="en-US" sz="1100" dirty="0"/>
          </a:p>
        </p:txBody>
      </p:sp>
      <p:sp>
        <p:nvSpPr>
          <p:cNvPr id="10" name="Text 7"/>
          <p:cNvSpPr txBox="1"/>
          <p:nvPr/>
        </p:nvSpPr>
        <p:spPr>
          <a:xfrm>
            <a:off x="457200" y="2432875"/>
            <a:ext cx="8229600" cy="274320"/>
          </a:xfrm>
          <a:prstGeom prst="rect">
            <a:avLst/>
          </a:prstGeom>
          <a:noFill/>
          <a:ln/>
        </p:spPr>
        <p:txBody>
          <a:bodyPr wrap="square" lIns="0" tIns="0" rIns="0" bIns="0" rtlCol="0" anchor="t"/>
          <a:lstStyle/>
          <a:p>
            <a:pPr marL="0" indent="0">
              <a:buNone/>
            </a:pPr>
            <a:r>
              <a:rPr lang="en-US" sz="1500" b="1" dirty="0">
                <a:solidFill>
                  <a:srgbClr val="F1BD84"/>
                </a:solidFill>
                <a:latin typeface="Calibri" pitchFamily="34" charset="0"/>
                <a:ea typeface="Calibri" pitchFamily="34" charset="-122"/>
                <a:cs typeface="Calibri" pitchFamily="34" charset="-120"/>
              </a:rPr>
              <a:t>Verdict and recommendations</a:t>
            </a:r>
            <a:endParaRPr lang="en-US" sz="1500" dirty="0"/>
          </a:p>
        </p:txBody>
      </p:sp>
      <p:sp>
        <p:nvSpPr>
          <p:cNvPr id="11" name="Text 8"/>
          <p:cNvSpPr txBox="1"/>
          <p:nvPr/>
        </p:nvSpPr>
        <p:spPr>
          <a:xfrm>
            <a:off x="457200" y="2707195"/>
            <a:ext cx="8229600" cy="209728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en-US" sz="1100" dirty="0">
                <a:solidFill>
                  <a:schemeClr val="bg1"/>
                </a:solidFill>
                <a:ea typeface="Calibri" pitchFamily="34" charset="-122"/>
                <a:cs typeface="Calibri" pitchFamily="34" charset="-120"/>
              </a:rPr>
              <a:t>Expert DAG is preferred on the stated primary metric, but the difference is not conclusive (CI includes zero)</a:t>
            </a:r>
            <a:endParaRPr lang="en-US" sz="1100" dirty="0">
              <a:solidFill>
                <a:schemeClr val="bg1"/>
              </a:solidFill>
            </a:endParaRPr>
          </a:p>
          <a:p>
            <a:pPr marL="171450" indent="-171450">
              <a:spcAft>
                <a:spcPts val="500"/>
              </a:spcAft>
              <a:buSzPct val="100000"/>
              <a:buFont typeface="Arial" panose="020B0604020202020204" pitchFamily="34" charset="0"/>
              <a:buChar char="•"/>
            </a:pPr>
            <a:r>
              <a:rPr lang="en-US" sz="1100" dirty="0">
                <a:solidFill>
                  <a:schemeClr val="bg1"/>
                </a:solidFill>
                <a:ea typeface="Calibri" pitchFamily="34" charset="-122"/>
                <a:cs typeface="Calibri" pitchFamily="34" charset="-120"/>
              </a:rPr>
              <a:t>Best model is not the most interpretable: use the expert graph for explanation and the learned graph as a data check</a:t>
            </a:r>
          </a:p>
          <a:p>
            <a:pPr marL="171450" indent="-171450">
              <a:spcAft>
                <a:spcPts val="500"/>
              </a:spcAft>
              <a:buSzPct val="100000"/>
              <a:buFont typeface="Arial" panose="020B0604020202020204" pitchFamily="34" charset="0"/>
              <a:buChar char="•"/>
            </a:pPr>
            <a:r>
              <a:rPr lang="en-ZA" sz="1100" dirty="0">
                <a:solidFill>
                  <a:schemeClr val="bg1"/>
                </a:solidFill>
                <a:ea typeface="Helvetica Neue"/>
                <a:cs typeface="Helvetica Neue"/>
              </a:rPr>
              <a:t>Resample preprocessing, structure learning and CPT fitting within training data.</a:t>
            </a:r>
          </a:p>
          <a:p>
            <a:pPr marL="171450" indent="-171450">
              <a:spcAft>
                <a:spcPts val="500"/>
              </a:spcAft>
              <a:buSzPct val="100000"/>
              <a:buFont typeface="Arial" panose="020B0604020202020204" pitchFamily="34" charset="0"/>
              <a:buChar char="•"/>
            </a:pPr>
            <a:r>
              <a:rPr lang="en-ZA" sz="1100" dirty="0">
                <a:solidFill>
                  <a:schemeClr val="bg1"/>
                </a:solidFill>
                <a:ea typeface="Helvetica Neue"/>
                <a:cs typeface="Helvetica Neue"/>
              </a:rPr>
              <a:t>Retrain without ca and other unavailable tests for any proposed pre-test setting.</a:t>
            </a:r>
          </a:p>
          <a:p>
            <a:pPr marL="171450" indent="-171450">
              <a:spcAft>
                <a:spcPts val="500"/>
              </a:spcAft>
              <a:buSzPct val="100000"/>
              <a:buFont typeface="Arial" panose="020B0604020202020204" pitchFamily="34" charset="0"/>
              <a:buChar char="•"/>
            </a:pPr>
            <a:r>
              <a:rPr lang="en-ZA" sz="1100" dirty="0">
                <a:solidFill>
                  <a:schemeClr val="bg1"/>
                </a:solidFill>
                <a:ea typeface="Helvetica Neue"/>
                <a:cs typeface="Helvetica Neue"/>
              </a:rPr>
              <a:t>Evaluate independent patients and assess probability calibration.</a:t>
            </a:r>
          </a:p>
          <a:p>
            <a:pPr marL="171450" indent="-171450">
              <a:spcAft>
                <a:spcPts val="500"/>
              </a:spcAft>
              <a:buSzPct val="100000"/>
              <a:buFont typeface="Arial" panose="020B0604020202020204" pitchFamily="34" charset="0"/>
              <a:buChar char="•"/>
            </a:pPr>
            <a:r>
              <a:rPr lang="en-ZA" sz="1100" dirty="0">
                <a:solidFill>
                  <a:schemeClr val="bg1"/>
                </a:solidFill>
                <a:ea typeface="Helvetica Neue"/>
                <a:cs typeface="Helvetica Neue"/>
              </a:rPr>
              <a:t>Compare alternative discretisation and missing-data approaches without tuning on the test set.</a:t>
            </a:r>
            <a:endParaRPr lang="en-US" sz="1100" dirty="0">
              <a:solidFill>
                <a:schemeClr val="bg1"/>
              </a:solidFill>
            </a:endParaRPr>
          </a:p>
          <a:p>
            <a:pPr marL="171450" indent="-171450">
              <a:spcAft>
                <a:spcPts val="500"/>
              </a:spcAft>
              <a:buSzPct val="100000"/>
              <a:buFont typeface="Arial" panose="020B0604020202020204" pitchFamily="34" charset="0"/>
              <a:buChar char="•"/>
            </a:pPr>
            <a:r>
              <a:rPr lang="en-US" sz="1100" dirty="0">
                <a:solidFill>
                  <a:schemeClr val="bg1"/>
                </a:solidFill>
                <a:ea typeface="Calibri" pitchFamily="34" charset="-122"/>
                <a:cs typeface="Calibri" pitchFamily="34" charset="-120"/>
              </a:rPr>
              <a:t>Limits: one small selected sample, discretisation, mode imputation and one train/test split; no treatment or deployment recommendation</a:t>
            </a:r>
            <a:endParaRPr lang="en-US" sz="11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324F"/>
        </a:solidFill>
        <a:effectLst/>
      </p:bgPr>
    </p:bg>
    <p:spTree>
      <p:nvGrpSpPr>
        <p:cNvPr id="1" name=""/>
        <p:cNvGrpSpPr/>
        <p:nvPr/>
      </p:nvGrpSpPr>
      <p:grpSpPr>
        <a:xfrm>
          <a:off x="0" y="0"/>
          <a:ext cx="0" cy="0"/>
          <a:chOff x="0" y="0"/>
          <a:chExt cx="0" cy="0"/>
        </a:xfrm>
      </p:grpSpPr>
      <p:sp>
        <p:nvSpPr>
          <p:cNvPr id="3" name="Shape 0"/>
          <p:cNvSpPr/>
          <p:nvPr/>
        </p:nvSpPr>
        <p:spPr>
          <a:xfrm>
            <a:off x="182880" y="1463040"/>
            <a:ext cx="1280160" cy="1280160"/>
          </a:xfrm>
          <a:prstGeom prst="ellipse">
            <a:avLst/>
          </a:prstGeom>
          <a:solidFill>
            <a:srgbClr val="D17C35"/>
          </a:solidFill>
          <a:ln w="38100">
            <a:solidFill>
              <a:srgbClr val="F1BD84"/>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48640" y="1828800"/>
            <a:ext cx="548640" cy="548640"/>
          </a:xfrm>
          <a:prstGeom prst="rect">
            <a:avLst/>
          </a:prstGeom>
        </p:spPr>
      </p:pic>
      <p:sp>
        <p:nvSpPr>
          <p:cNvPr id="5" name="Text 1"/>
          <p:cNvSpPr txBox="1"/>
          <p:nvPr/>
        </p:nvSpPr>
        <p:spPr>
          <a:xfrm>
            <a:off x="1280160" y="175131"/>
            <a:ext cx="5486400" cy="8229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References</a:t>
            </a:r>
            <a:endParaRPr lang="en-US" sz="4400" dirty="0"/>
          </a:p>
        </p:txBody>
      </p:sp>
      <p:sp>
        <p:nvSpPr>
          <p:cNvPr id="6" name="Text 2"/>
          <p:cNvSpPr txBox="1"/>
          <p:nvPr/>
        </p:nvSpPr>
        <p:spPr>
          <a:xfrm>
            <a:off x="640080" y="3939669"/>
            <a:ext cx="5486400" cy="457200"/>
          </a:xfrm>
          <a:prstGeom prst="rect">
            <a:avLst/>
          </a:prstGeom>
          <a:noFill/>
          <a:ln/>
        </p:spPr>
        <p:txBody>
          <a:bodyPr wrap="square" lIns="0" tIns="0" rIns="0" bIns="0" rtlCol="0" anchor="t"/>
          <a:lstStyle/>
          <a:p>
            <a:pPr marL="0" indent="0">
              <a:buNone/>
            </a:pPr>
            <a:r>
              <a:rPr lang="en-US" sz="2000" dirty="0">
                <a:solidFill>
                  <a:srgbClr val="D6E5F0"/>
                </a:solidFill>
                <a:latin typeface="Calibri" pitchFamily="34" charset="0"/>
                <a:ea typeface="Calibri" pitchFamily="34" charset="-122"/>
                <a:cs typeface="Calibri" pitchFamily="34" charset="-120"/>
              </a:rPr>
              <a:t>Questions and discussion</a:t>
            </a:r>
            <a:endParaRPr lang="en-US" sz="2000" dirty="0"/>
          </a:p>
        </p:txBody>
      </p:sp>
      <p:sp>
        <p:nvSpPr>
          <p:cNvPr id="7" name="Text 3"/>
          <p:cNvSpPr txBox="1"/>
          <p:nvPr/>
        </p:nvSpPr>
        <p:spPr>
          <a:xfrm>
            <a:off x="640080" y="4328289"/>
            <a:ext cx="5486400" cy="640080"/>
          </a:xfrm>
          <a:prstGeom prst="rect">
            <a:avLst/>
          </a:prstGeom>
          <a:noFill/>
          <a:ln/>
        </p:spPr>
        <p:txBody>
          <a:bodyPr wrap="square" lIns="0" tIns="0" rIns="0" bIns="0" rtlCol="0" anchor="t"/>
          <a:lstStyle/>
          <a:p>
            <a:pPr marL="0" indent="0">
              <a:buNone/>
            </a:pPr>
            <a:r>
              <a:rPr lang="en-US" sz="1400" b="1" dirty="0">
                <a:solidFill>
                  <a:schemeClr val="bg1"/>
                </a:solidFill>
                <a:ea typeface="Calibri" pitchFamily="34" charset="-122"/>
                <a:cs typeface="Calibri" pitchFamily="34" charset="-120"/>
              </a:rPr>
              <a:t>Lwazi Nhlapo (2021856345)</a:t>
            </a:r>
            <a:endParaRPr lang="en-US" sz="1400" dirty="0">
              <a:solidFill>
                <a:schemeClr val="bg1"/>
              </a:solidFill>
            </a:endParaRPr>
          </a:p>
          <a:p>
            <a:r>
              <a:rPr lang="en-US" sz="1400" b="1" dirty="0">
                <a:solidFill>
                  <a:schemeClr val="bg1"/>
                </a:solidFill>
                <a:ea typeface="Calibri" pitchFamily="34" charset="-122"/>
                <a:cs typeface="Calibri" pitchFamily="34" charset="-120"/>
              </a:rPr>
              <a:t>Boipelo </a:t>
            </a:r>
            <a:r>
              <a:rPr lang="en-US" sz="1400" b="1" dirty="0" err="1">
                <a:solidFill>
                  <a:schemeClr val="bg1"/>
                </a:solidFill>
                <a:ea typeface="Calibri" pitchFamily="34" charset="-122"/>
                <a:cs typeface="Calibri" pitchFamily="34" charset="-120"/>
              </a:rPr>
              <a:t>Letwaba</a:t>
            </a:r>
            <a:r>
              <a:rPr lang="en-US" sz="1400" b="1" dirty="0">
                <a:solidFill>
                  <a:schemeClr val="bg1"/>
                </a:solidFill>
                <a:ea typeface="Calibri" pitchFamily="34" charset="-122"/>
                <a:cs typeface="Calibri" pitchFamily="34" charset="-120"/>
              </a:rPr>
              <a:t> (</a:t>
            </a:r>
            <a:r>
              <a:rPr lang="en-ZA" sz="1400" b="1" dirty="0">
                <a:solidFill>
                  <a:schemeClr val="bg1"/>
                </a:solidFill>
              </a:rPr>
              <a:t>2024053890</a:t>
            </a:r>
            <a:r>
              <a:rPr lang="en-ZA" b="1" dirty="0">
                <a:solidFill>
                  <a:schemeClr val="bg1"/>
                </a:solidFill>
              </a:rPr>
              <a:t>)</a:t>
            </a:r>
          </a:p>
          <a:p>
            <a:pPr marL="0" indent="0">
              <a:buNone/>
            </a:pPr>
            <a:endParaRPr lang="en-US" sz="1500" dirty="0"/>
          </a:p>
        </p:txBody>
      </p:sp>
      <p:sp>
        <p:nvSpPr>
          <p:cNvPr id="8" name="Text 4"/>
          <p:cNvSpPr txBox="1"/>
          <p:nvPr/>
        </p:nvSpPr>
        <p:spPr>
          <a:xfrm>
            <a:off x="2286000" y="3931920"/>
            <a:ext cx="6400800" cy="457200"/>
          </a:xfrm>
          <a:prstGeom prst="rect">
            <a:avLst/>
          </a:prstGeom>
          <a:noFill/>
          <a:ln/>
        </p:spPr>
        <p:txBody>
          <a:bodyPr wrap="square" lIns="0" tIns="0" rIns="0" bIns="0" rtlCol="0" anchor="t"/>
          <a:lstStyle/>
          <a:p>
            <a:pPr marL="0" indent="0">
              <a:buNone/>
            </a:pPr>
            <a:endParaRPr lang="en-US" sz="1200" dirty="0"/>
          </a:p>
        </p:txBody>
      </p:sp>
      <p:sp>
        <p:nvSpPr>
          <p:cNvPr id="2" name="TextBox 1">
            <a:extLst>
              <a:ext uri="{FF2B5EF4-FFF2-40B4-BE49-F238E27FC236}">
                <a16:creationId xmlns:a16="http://schemas.microsoft.com/office/drawing/2014/main" id="{1EB6D8B4-B142-C211-ECBF-5919B9FC9969}"/>
              </a:ext>
            </a:extLst>
          </p:cNvPr>
          <p:cNvSpPr txBox="1"/>
          <p:nvPr/>
        </p:nvSpPr>
        <p:spPr>
          <a:xfrm>
            <a:off x="1474150" y="952798"/>
            <a:ext cx="7486970" cy="2723823"/>
          </a:xfrm>
          <a:prstGeom prst="rect">
            <a:avLst/>
          </a:prstGeom>
          <a:noFill/>
        </p:spPr>
        <p:txBody>
          <a:bodyPr wrap="square" rtlCol="0">
            <a:spAutoFit/>
          </a:bodyPr>
          <a:lstStyle/>
          <a:p>
            <a:pPr marL="285750" indent="-285750">
              <a:buFont typeface="Arial" panose="020B0604020202020204" pitchFamily="34" charset="0"/>
              <a:buChar char="•"/>
            </a:pPr>
            <a:r>
              <a:rPr lang="en-ZA" sz="900" dirty="0">
                <a:solidFill>
                  <a:schemeClr val="bg1"/>
                </a:solidFill>
              </a:rPr>
              <a:t>`EDAB6808_Assignment3.pdf` (instructions and both rubrics)</a:t>
            </a:r>
          </a:p>
          <a:p>
            <a:pPr marL="285750" indent="-285750">
              <a:buFont typeface="Arial" panose="020B0604020202020204" pitchFamily="34" charset="0"/>
              <a:buChar char="•"/>
            </a:pPr>
            <a:r>
              <a:rPr lang="en-ZA" sz="900" dirty="0">
                <a:solidFill>
                  <a:schemeClr val="bg1"/>
                </a:solidFill>
              </a:rPr>
              <a:t>`Data/</a:t>
            </a:r>
            <a:r>
              <a:rPr lang="en-ZA" sz="900" dirty="0" err="1">
                <a:solidFill>
                  <a:schemeClr val="bg1"/>
                </a:solidFill>
              </a:rPr>
              <a:t>diabetes.csv</a:t>
            </a:r>
            <a:r>
              <a:rPr lang="en-ZA" sz="900" dirty="0">
                <a:solidFill>
                  <a:schemeClr val="bg1"/>
                </a:solidFill>
              </a:rPr>
              <a:t>` (all empirical results); </a:t>
            </a:r>
          </a:p>
          <a:p>
            <a:pPr marL="285750" indent="-285750">
              <a:buFont typeface="Arial" panose="020B0604020202020204" pitchFamily="34" charset="0"/>
              <a:buChar char="•"/>
            </a:pPr>
            <a:r>
              <a:rPr lang="en-ZA" sz="900" dirty="0">
                <a:solidFill>
                  <a:schemeClr val="bg1"/>
                </a:solidFill>
              </a:rPr>
              <a:t>Dataset definitions: [UCI Heart Disease](</a:t>
            </a:r>
            <a:r>
              <a:rPr lang="en-ZA" sz="900" u="sng" dirty="0">
                <a:solidFill>
                  <a:schemeClr val="bg1"/>
                </a:solidFill>
              </a:rPr>
              <a:t>https://</a:t>
            </a:r>
            <a:r>
              <a:rPr lang="en-ZA" sz="900" u="sng" dirty="0" err="1">
                <a:solidFill>
                  <a:schemeClr val="bg1"/>
                </a:solidFill>
              </a:rPr>
              <a:t>archive.ics.uci.edu</a:t>
            </a:r>
            <a:r>
              <a:rPr lang="en-ZA" sz="900" u="sng" dirty="0">
                <a:solidFill>
                  <a:schemeClr val="bg1"/>
                </a:solidFill>
              </a:rPr>
              <a:t>/dataset/45/</a:t>
            </a:r>
            <a:r>
              <a:rPr lang="en-ZA" sz="900" u="sng" dirty="0" err="1">
                <a:solidFill>
                  <a:schemeClr val="bg1"/>
                </a:solidFill>
              </a:rPr>
              <a:t>heart+disease</a:t>
            </a:r>
            <a:r>
              <a:rPr lang="en-ZA" sz="900" dirty="0">
                <a:solidFill>
                  <a:schemeClr val="bg1"/>
                </a:solidFill>
              </a:rPr>
              <a:t>). </a:t>
            </a:r>
          </a:p>
          <a:p>
            <a:pPr marL="285750" indent="-285750">
              <a:buFont typeface="Arial" panose="020B0604020202020204" pitchFamily="34" charset="0"/>
              <a:buChar char="•"/>
            </a:pPr>
            <a:r>
              <a:rPr lang="en-ZA" sz="900" dirty="0">
                <a:solidFill>
                  <a:schemeClr val="bg1"/>
                </a:solidFill>
              </a:rPr>
              <a:t>Method documentation: [Python </a:t>
            </a:r>
            <a:r>
              <a:rPr lang="en-ZA" sz="900" dirty="0" err="1">
                <a:solidFill>
                  <a:schemeClr val="bg1"/>
                </a:solidFill>
              </a:rPr>
              <a:t>bnlearn</a:t>
            </a:r>
            <a:r>
              <a:rPr lang="en-ZA" sz="900" dirty="0">
                <a:solidFill>
                  <a:schemeClr val="bg1"/>
                </a:solidFill>
              </a:rPr>
              <a:t> structure-learning source](</a:t>
            </a:r>
            <a:r>
              <a:rPr lang="en-ZA" sz="900" u="sng" dirty="0">
                <a:solidFill>
                  <a:schemeClr val="bg1"/>
                </a:solidFill>
              </a:rPr>
              <a:t>https://</a:t>
            </a:r>
            <a:r>
              <a:rPr lang="en-ZA" sz="900" u="sng" dirty="0" err="1">
                <a:solidFill>
                  <a:schemeClr val="bg1"/>
                </a:solidFill>
              </a:rPr>
              <a:t>github.com</a:t>
            </a:r>
            <a:r>
              <a:rPr lang="en-ZA" sz="900" u="sng" dirty="0">
                <a:solidFill>
                  <a:schemeClr val="bg1"/>
                </a:solidFill>
              </a:rPr>
              <a:t>/</a:t>
            </a:r>
            <a:r>
              <a:rPr lang="en-ZA" sz="900" u="sng" dirty="0" err="1">
                <a:solidFill>
                  <a:schemeClr val="bg1"/>
                </a:solidFill>
              </a:rPr>
              <a:t>erdogant</a:t>
            </a:r>
            <a:r>
              <a:rPr lang="en-ZA" sz="900" u="sng" dirty="0">
                <a:solidFill>
                  <a:schemeClr val="bg1"/>
                </a:solidFill>
              </a:rPr>
              <a:t>/</a:t>
            </a:r>
            <a:r>
              <a:rPr lang="en-ZA" sz="900" u="sng" dirty="0" err="1">
                <a:solidFill>
                  <a:schemeClr val="bg1"/>
                </a:solidFill>
              </a:rPr>
              <a:t>bnlearn</a:t>
            </a:r>
            <a:r>
              <a:rPr lang="en-ZA" sz="900" u="sng" dirty="0">
                <a:solidFill>
                  <a:schemeClr val="bg1"/>
                </a:solidFill>
              </a:rPr>
              <a:t>/blob/master/</a:t>
            </a:r>
            <a:r>
              <a:rPr lang="en-ZA" sz="900" u="sng" dirty="0" err="1">
                <a:solidFill>
                  <a:schemeClr val="bg1"/>
                </a:solidFill>
              </a:rPr>
              <a:t>bnlearn</a:t>
            </a:r>
            <a:r>
              <a:rPr lang="en-ZA" sz="900" u="sng" dirty="0">
                <a:solidFill>
                  <a:schemeClr val="bg1"/>
                </a:solidFill>
              </a:rPr>
              <a:t>/</a:t>
            </a:r>
            <a:r>
              <a:rPr lang="en-ZA" sz="900" u="sng" dirty="0" err="1">
                <a:solidFill>
                  <a:schemeClr val="bg1"/>
                </a:solidFill>
              </a:rPr>
              <a:t>structure_learning.py</a:t>
            </a:r>
            <a:r>
              <a:rPr lang="en-ZA" sz="900" dirty="0">
                <a:solidFill>
                  <a:schemeClr val="bg1"/>
                </a:solidFill>
              </a:rPr>
              <a:t>) and [</a:t>
            </a:r>
            <a:r>
              <a:rPr lang="en-ZA" sz="900" dirty="0" err="1">
                <a:solidFill>
                  <a:schemeClr val="bg1"/>
                </a:solidFill>
              </a:rPr>
              <a:t>pgmpy</a:t>
            </a:r>
            <a:r>
              <a:rPr lang="en-ZA" sz="900" dirty="0">
                <a:solidFill>
                  <a:schemeClr val="bg1"/>
                </a:solidFill>
              </a:rPr>
              <a:t> </a:t>
            </a:r>
            <a:r>
              <a:rPr lang="en-ZA" sz="900" dirty="0" err="1">
                <a:solidFill>
                  <a:schemeClr val="bg1"/>
                </a:solidFill>
              </a:rPr>
              <a:t>BayesianEstimator</a:t>
            </a:r>
            <a:r>
              <a:rPr lang="en-ZA" sz="900" dirty="0">
                <a:solidFill>
                  <a:schemeClr val="bg1"/>
                </a:solidFill>
              </a:rPr>
              <a:t>](</a:t>
            </a:r>
            <a:r>
              <a:rPr lang="en-ZA" sz="900" u="sng" dirty="0">
                <a:solidFill>
                  <a:schemeClr val="bg1"/>
                </a:solidFill>
              </a:rPr>
              <a:t>https://</a:t>
            </a:r>
            <a:r>
              <a:rPr lang="en-ZA" sz="900" u="sng" dirty="0" err="1">
                <a:solidFill>
                  <a:schemeClr val="bg1"/>
                </a:solidFill>
              </a:rPr>
              <a:t>pgmpy.org</a:t>
            </a:r>
            <a:r>
              <a:rPr lang="en-ZA" sz="900" u="sng" dirty="0">
                <a:solidFill>
                  <a:schemeClr val="bg1"/>
                </a:solidFill>
              </a:rPr>
              <a:t>/_modules/</a:t>
            </a:r>
            <a:r>
              <a:rPr lang="en-ZA" sz="900" u="sng" dirty="0" err="1">
                <a:solidFill>
                  <a:schemeClr val="bg1"/>
                </a:solidFill>
              </a:rPr>
              <a:t>pgmpy</a:t>
            </a:r>
            <a:r>
              <a:rPr lang="en-ZA" sz="900" u="sng" dirty="0">
                <a:solidFill>
                  <a:schemeClr val="bg1"/>
                </a:solidFill>
              </a:rPr>
              <a:t>/estimators/</a:t>
            </a:r>
            <a:r>
              <a:rPr lang="en-ZA" sz="900" u="sng" dirty="0" err="1">
                <a:solidFill>
                  <a:schemeClr val="bg1"/>
                </a:solidFill>
              </a:rPr>
              <a:t>BayesianEstimator.html</a:t>
            </a:r>
            <a:r>
              <a:rPr lang="en-ZA" sz="900" dirty="0">
                <a:solidFill>
                  <a:schemeClr val="bg1"/>
                </a:solidFill>
              </a:rPr>
              <a:t>). </a:t>
            </a:r>
          </a:p>
          <a:p>
            <a:pPr marL="285750" indent="-285750">
              <a:buFont typeface="Arial" panose="020B0604020202020204" pitchFamily="34" charset="0"/>
              <a:buChar char="•"/>
            </a:pPr>
            <a:r>
              <a:rPr lang="en-ZA" sz="900" dirty="0">
                <a:solidFill>
                  <a:schemeClr val="bg1"/>
                </a:solidFill>
              </a:rPr>
              <a:t>Arnett, D.K., Blumenthal, R.S., Albert, M.A., Buroker, A.B., Goldberger, Z.D., Hahn, E.J., Himmelfarb, C.D., Khera, A., Lloyd-Jones, D., McEvoy, J.W., Michos, E.D., Miedema, M.D., Muñoz, D., Smith, S.C. Jr, Virani, S.S., Williams, K.A. Sr, Yeboah, J. and </a:t>
            </a:r>
            <a:r>
              <a:rPr lang="en-ZA" sz="900" dirty="0" err="1">
                <a:solidFill>
                  <a:schemeClr val="bg1"/>
                </a:solidFill>
              </a:rPr>
              <a:t>Ziaeian</a:t>
            </a:r>
            <a:r>
              <a:rPr lang="en-ZA" sz="900" dirty="0">
                <a:solidFill>
                  <a:schemeClr val="bg1"/>
                </a:solidFill>
              </a:rPr>
              <a:t>, B. (2019) ‘2019 ACC/AHA guideline on the primary prevention of cardiovascular disease: A report of the American College of Cardiology/American Heart Association Task Force on Clinical Practice Guidelines’, Circulation, 140(11), pp. e596–e646. </a:t>
            </a:r>
            <a:r>
              <a:rPr lang="en-ZA" sz="900" dirty="0" err="1">
                <a:solidFill>
                  <a:schemeClr val="bg1"/>
                </a:solidFill>
              </a:rPr>
              <a:t>doi</a:t>
            </a:r>
            <a:r>
              <a:rPr lang="en-ZA" sz="900" dirty="0">
                <a:solidFill>
                  <a:schemeClr val="bg1"/>
                </a:solidFill>
              </a:rPr>
              <a:t>: 10.1161/CIR.0000000000000678.</a:t>
            </a:r>
          </a:p>
          <a:p>
            <a:pPr marL="285750" indent="-285750">
              <a:buFont typeface="Arial" panose="020B0604020202020204" pitchFamily="34" charset="0"/>
              <a:buChar char="•"/>
            </a:pPr>
            <a:r>
              <a:rPr lang="en-ZA" sz="900" dirty="0">
                <a:solidFill>
                  <a:schemeClr val="bg1"/>
                </a:solidFill>
              </a:rPr>
              <a:t>Detrano, R., Janosi, A., </a:t>
            </a:r>
            <a:r>
              <a:rPr lang="en-ZA" sz="900" dirty="0" err="1">
                <a:solidFill>
                  <a:schemeClr val="bg1"/>
                </a:solidFill>
              </a:rPr>
              <a:t>Steinbrunn</a:t>
            </a:r>
            <a:r>
              <a:rPr lang="en-ZA" sz="900" dirty="0">
                <a:solidFill>
                  <a:schemeClr val="bg1"/>
                </a:solidFill>
              </a:rPr>
              <a:t>, W., Pfisterer, M., Schmid, J.J., Sandhu, S., Guppy, K.H., Lee, S. and Froelicher, V. (1989) ‘International application of a new probability algorithm for the diagnosis of coronary artery disease’, The American Journal of Cardiology, 64(5), pp. 304–310. </a:t>
            </a:r>
            <a:r>
              <a:rPr lang="en-ZA" sz="900" dirty="0" err="1">
                <a:solidFill>
                  <a:schemeClr val="bg1"/>
                </a:solidFill>
              </a:rPr>
              <a:t>doi</a:t>
            </a:r>
            <a:r>
              <a:rPr lang="en-ZA" sz="900" dirty="0">
                <a:solidFill>
                  <a:schemeClr val="bg1"/>
                </a:solidFill>
              </a:rPr>
              <a:t>: 10.1016/0002-9149(89)90524-9.</a:t>
            </a:r>
          </a:p>
          <a:p>
            <a:pPr marL="285750" indent="-285750">
              <a:buFont typeface="Arial" panose="020B0604020202020204" pitchFamily="34" charset="0"/>
              <a:buChar char="•"/>
            </a:pPr>
            <a:r>
              <a:rPr lang="en-ZA" sz="900" dirty="0">
                <a:solidFill>
                  <a:schemeClr val="bg1"/>
                </a:solidFill>
              </a:rPr>
              <a:t>Janosi, A., </a:t>
            </a:r>
            <a:r>
              <a:rPr lang="en-ZA" sz="900" dirty="0" err="1">
                <a:solidFill>
                  <a:schemeClr val="bg1"/>
                </a:solidFill>
              </a:rPr>
              <a:t>Steinbrunn</a:t>
            </a:r>
            <a:r>
              <a:rPr lang="en-ZA" sz="900" dirty="0">
                <a:solidFill>
                  <a:schemeClr val="bg1"/>
                </a:solidFill>
              </a:rPr>
              <a:t>, W., Pfisterer, M. and Detrano, R. (1989) Heart disease [Dataset]. UCI Machine Learning Repository. </a:t>
            </a:r>
            <a:r>
              <a:rPr lang="en-ZA" sz="900" dirty="0" err="1">
                <a:solidFill>
                  <a:schemeClr val="bg1"/>
                </a:solidFill>
              </a:rPr>
              <a:t>doi</a:t>
            </a:r>
            <a:r>
              <a:rPr lang="en-ZA" sz="900" dirty="0">
                <a:solidFill>
                  <a:schemeClr val="bg1"/>
                </a:solidFill>
              </a:rPr>
              <a:t>: 10.24432/C52P4X.</a:t>
            </a:r>
          </a:p>
          <a:p>
            <a:pPr marL="285750" indent="-285750">
              <a:buFont typeface="Arial" panose="020B0604020202020204" pitchFamily="34" charset="0"/>
              <a:buChar char="•"/>
            </a:pPr>
            <a:r>
              <a:rPr lang="en-ZA" sz="900" dirty="0" err="1">
                <a:solidFill>
                  <a:schemeClr val="bg1"/>
                </a:solidFill>
              </a:rPr>
              <a:t>pgmpy</a:t>
            </a:r>
            <a:r>
              <a:rPr lang="en-ZA" sz="900" dirty="0">
                <a:solidFill>
                  <a:schemeClr val="bg1"/>
                </a:solidFill>
              </a:rPr>
              <a:t> developers (n.d.) </a:t>
            </a:r>
            <a:r>
              <a:rPr lang="en-ZA" sz="900" dirty="0" err="1">
                <a:solidFill>
                  <a:schemeClr val="bg1"/>
                </a:solidFill>
              </a:rPr>
              <a:t>pgmpy.estimators.BayesianEstimator</a:t>
            </a:r>
            <a:r>
              <a:rPr lang="en-ZA" sz="900" dirty="0">
                <a:solidFill>
                  <a:schemeClr val="bg1"/>
                </a:solidFill>
              </a:rPr>
              <a:t> [Software documentation and source code]. Available at: </a:t>
            </a:r>
            <a:r>
              <a:rPr lang="en-ZA" sz="900" dirty="0" err="1">
                <a:solidFill>
                  <a:schemeClr val="bg1"/>
                </a:solidFill>
              </a:rPr>
              <a:t>BayesianEstimator</a:t>
            </a:r>
            <a:r>
              <a:rPr lang="en-ZA" sz="900" dirty="0">
                <a:solidFill>
                  <a:schemeClr val="bg1"/>
                </a:solidFill>
              </a:rPr>
              <a:t> documentation (Accessed: 26 September 2026).</a:t>
            </a:r>
          </a:p>
          <a:p>
            <a:pPr marL="285750" indent="-285750">
              <a:buFont typeface="Arial" panose="020B0604020202020204" pitchFamily="34" charset="0"/>
              <a:buChar char="•"/>
            </a:pPr>
            <a:r>
              <a:rPr lang="en-ZA" sz="900" dirty="0">
                <a:solidFill>
                  <a:schemeClr val="bg1"/>
                </a:solidFill>
              </a:rPr>
              <a:t>Tanaka, H., Monahan, K.D. and Seals, D.R. (2001) ‘Age-predicted maximal heart rate revisited’, Journal of the American College of Cardiology, 37(1), pp. 153–156. </a:t>
            </a:r>
            <a:r>
              <a:rPr lang="en-ZA" sz="900" dirty="0" err="1">
                <a:solidFill>
                  <a:schemeClr val="bg1"/>
                </a:solidFill>
              </a:rPr>
              <a:t>doi</a:t>
            </a:r>
            <a:r>
              <a:rPr lang="en-ZA" sz="900" dirty="0">
                <a:solidFill>
                  <a:schemeClr val="bg1"/>
                </a:solidFill>
              </a:rPr>
              <a:t>: 10.1016/S0735-1097(00)01054-8.</a:t>
            </a:r>
          </a:p>
          <a:p>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676</TotalTime>
  <Words>4144</Words>
  <Application>Microsoft Macintosh PowerPoint</Application>
  <PresentationFormat>On-screen Show (16:9)</PresentationFormat>
  <Paragraphs>445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Networks for Heart Disease Prediction</dc:title>
  <dc:subject>PptxGenJS Presentation</dc:subject>
  <dc:creator>PptxGenJS</dc:creator>
  <cp:lastModifiedBy>Lwazi Nhlapo</cp:lastModifiedBy>
  <cp:revision>3</cp:revision>
  <dcterms:created xsi:type="dcterms:W3CDTF">2026-09-29T22:49:23Z</dcterms:created>
  <dcterms:modified xsi:type="dcterms:W3CDTF">2026-09-30T13:18:06Z</dcterms:modified>
</cp:coreProperties>
</file>